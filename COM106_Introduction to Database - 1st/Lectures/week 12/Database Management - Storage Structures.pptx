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340" r:id="rId3"/>
    <p:sldId id="296" r:id="rId4"/>
    <p:sldId id="297" r:id="rId5"/>
    <p:sldId id="298" r:id="rId6"/>
    <p:sldId id="299" r:id="rId7"/>
    <p:sldId id="308" r:id="rId8"/>
    <p:sldId id="301" r:id="rId9"/>
    <p:sldId id="303" r:id="rId10"/>
    <p:sldId id="304" r:id="rId11"/>
    <p:sldId id="305" r:id="rId12"/>
    <p:sldId id="306" r:id="rId13"/>
    <p:sldId id="307" r:id="rId14"/>
    <p:sldId id="309" r:id="rId15"/>
    <p:sldId id="310" r:id="rId16"/>
    <p:sldId id="311" r:id="rId17"/>
    <p:sldId id="312" r:id="rId18"/>
    <p:sldId id="313" r:id="rId19"/>
    <p:sldId id="31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378475-C6AA-4616-B882-14DABAA70AB3}" v="9" dt="2023-11-13T10:49:51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ns, Matthew" userId="34ac012b-a8bb-4aad-9a84-1792b047c26c" providerId="ADAL" clId="{EF378475-C6AA-4616-B882-14DABAA70AB3}"/>
    <pc:docChg chg="undo custSel addSld modSld sldOrd">
      <pc:chgData name="Burns, Matthew" userId="34ac012b-a8bb-4aad-9a84-1792b047c26c" providerId="ADAL" clId="{EF378475-C6AA-4616-B882-14DABAA70AB3}" dt="2023-11-13T10:49:51.721" v="31" actId="20577"/>
      <pc:docMkLst>
        <pc:docMk/>
      </pc:docMkLst>
      <pc:sldChg chg="modSp modAnim">
        <pc:chgData name="Burns, Matthew" userId="34ac012b-a8bb-4aad-9a84-1792b047c26c" providerId="ADAL" clId="{EF378475-C6AA-4616-B882-14DABAA70AB3}" dt="2023-11-13T10:49:51.721" v="31" actId="20577"/>
        <pc:sldMkLst>
          <pc:docMk/>
          <pc:sldMk cId="4236493578" sldId="299"/>
        </pc:sldMkLst>
        <pc:spChg chg="mod">
          <ac:chgData name="Burns, Matthew" userId="34ac012b-a8bb-4aad-9a84-1792b047c26c" providerId="ADAL" clId="{EF378475-C6AA-4616-B882-14DABAA70AB3}" dt="2023-11-13T10:49:51.721" v="31" actId="20577"/>
          <ac:spMkLst>
            <pc:docMk/>
            <pc:sldMk cId="4236493578" sldId="299"/>
            <ac:spMk id="3" creationId="{00000000-0000-0000-0000-000000000000}"/>
          </ac:spMkLst>
        </pc:spChg>
      </pc:sldChg>
      <pc:sldChg chg="addSp delSp modSp add mod ord setBg addAnim delDesignElem">
        <pc:chgData name="Burns, Matthew" userId="34ac012b-a8bb-4aad-9a84-1792b047c26c" providerId="ADAL" clId="{EF378475-C6AA-4616-B882-14DABAA70AB3}" dt="2023-11-13T10:45:02.944" v="25" actId="732"/>
        <pc:sldMkLst>
          <pc:docMk/>
          <pc:sldMk cId="0" sldId="340"/>
        </pc:sldMkLst>
        <pc:spChg chg="mod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" creationId="{00000000-0000-0000-0000-000000000000}"/>
          </ac:spMkLst>
        </pc:spChg>
        <pc:spChg chg="mod">
          <ac:chgData name="Burns, Matthew" userId="34ac012b-a8bb-4aad-9a84-1792b047c26c" providerId="ADAL" clId="{EF378475-C6AA-4616-B882-14DABAA70AB3}" dt="2023-11-13T10:44:49.424" v="14" actId="26606"/>
          <ac:spMkLst>
            <pc:docMk/>
            <pc:sldMk cId="0" sldId="340"/>
            <ac:spMk id="3" creationId="{62E7285B-FC41-C14D-BE33-4CD2BCB054B8}"/>
          </ac:spMkLst>
        </pc:spChg>
        <pc:spChg chg="mod">
          <ac:chgData name="Burns, Matthew" userId="34ac012b-a8bb-4aad-9a84-1792b047c26c" providerId="ADAL" clId="{EF378475-C6AA-4616-B882-14DABAA70AB3}" dt="2023-11-13T10:44:49.424" v="14" actId="26606"/>
          <ac:spMkLst>
            <pc:docMk/>
            <pc:sldMk cId="0" sldId="340"/>
            <ac:spMk id="2052" creationId="{00000000-0000-0000-0000-000000000000}"/>
          </ac:spMkLst>
        </pc:spChg>
        <pc:spChg chg="del">
          <ac:chgData name="Burns, Matthew" userId="34ac012b-a8bb-4aad-9a84-1792b047c26c" providerId="ADAL" clId="{EF378475-C6AA-4616-B882-14DABAA70AB3}" dt="2023-11-13T10:44:08.768" v="1"/>
          <ac:spMkLst>
            <pc:docMk/>
            <pc:sldMk cId="0" sldId="340"/>
            <ac:spMk id="2054" creationId="{E91DC736-0EF8-4F87-9146-EBF1D2EE4D3D}"/>
          </ac:spMkLst>
        </pc:spChg>
        <pc:spChg chg="del">
          <ac:chgData name="Burns, Matthew" userId="34ac012b-a8bb-4aad-9a84-1792b047c26c" providerId="ADAL" clId="{EF378475-C6AA-4616-B882-14DABAA70AB3}" dt="2023-11-13T10:44:08.768" v="1"/>
          <ac:spMkLst>
            <pc:docMk/>
            <pc:sldMk cId="0" sldId="340"/>
            <ac:spMk id="2055" creationId="{097CD68E-23E3-4007-8847-CD0944C4F7BE}"/>
          </ac:spMkLst>
        </pc:spChg>
        <pc:spChg chg="add del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056" creationId="{AF2F604E-43BE-4DC3-B983-E071523364F8}"/>
          </ac:spMkLst>
        </pc:spChg>
        <pc:spChg chg="add del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057" creationId="{E91DC736-0EF8-4F87-9146-EBF1D2EE4D3D}"/>
          </ac:spMkLst>
        </pc:spChg>
        <pc:spChg chg="add del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058" creationId="{08C9B587-E65E-4B52-B37C-ABEBB6E87928}"/>
          </ac:spMkLst>
        </pc:spChg>
        <pc:spChg chg="add del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059" creationId="{097CD68E-23E3-4007-8847-CD0944C4F7BE}"/>
          </ac:spMkLst>
        </pc:spChg>
        <pc:spChg chg="del">
          <ac:chgData name="Burns, Matthew" userId="34ac012b-a8bb-4aad-9a84-1792b047c26c" providerId="ADAL" clId="{EF378475-C6AA-4616-B882-14DABAA70AB3}" dt="2023-11-13T10:44:08.768" v="1"/>
          <ac:spMkLst>
            <pc:docMk/>
            <pc:sldMk cId="0" sldId="340"/>
            <ac:spMk id="2061" creationId="{AF2F604E-43BE-4DC3-B983-E071523364F8}"/>
          </ac:spMkLst>
        </pc:spChg>
        <pc:spChg chg="del">
          <ac:chgData name="Burns, Matthew" userId="34ac012b-a8bb-4aad-9a84-1792b047c26c" providerId="ADAL" clId="{EF378475-C6AA-4616-B882-14DABAA70AB3}" dt="2023-11-13T10:44:08.768" v="1"/>
          <ac:spMkLst>
            <pc:docMk/>
            <pc:sldMk cId="0" sldId="340"/>
            <ac:spMk id="2063" creationId="{08C9B587-E65E-4B52-B37C-ABEBB6E87928}"/>
          </ac:spMkLst>
        </pc:spChg>
        <pc:spChg chg="add del">
          <ac:chgData name="Burns, Matthew" userId="34ac012b-a8bb-4aad-9a84-1792b047c26c" providerId="ADAL" clId="{EF378475-C6AA-4616-B882-14DABAA70AB3}" dt="2023-11-13T10:44:48.097" v="12" actId="26606"/>
          <ac:spMkLst>
            <pc:docMk/>
            <pc:sldMk cId="0" sldId="340"/>
            <ac:spMk id="2064" creationId="{E91DC736-0EF8-4F87-9146-EBF1D2EE4D3D}"/>
          </ac:spMkLst>
        </pc:spChg>
        <pc:spChg chg="add del">
          <ac:chgData name="Burns, Matthew" userId="34ac012b-a8bb-4aad-9a84-1792b047c26c" providerId="ADAL" clId="{EF378475-C6AA-4616-B882-14DABAA70AB3}" dt="2023-11-13T10:44:48.097" v="12" actId="26606"/>
          <ac:spMkLst>
            <pc:docMk/>
            <pc:sldMk cId="0" sldId="340"/>
            <ac:spMk id="2066" creationId="{097CD68E-23E3-4007-8847-CD0944C4F7BE}"/>
          </ac:spMkLst>
        </pc:spChg>
        <pc:spChg chg="add del">
          <ac:chgData name="Burns, Matthew" userId="34ac012b-a8bb-4aad-9a84-1792b047c26c" providerId="ADAL" clId="{EF378475-C6AA-4616-B882-14DABAA70AB3}" dt="2023-11-13T10:44:48.097" v="12" actId="26606"/>
          <ac:spMkLst>
            <pc:docMk/>
            <pc:sldMk cId="0" sldId="340"/>
            <ac:spMk id="2068" creationId="{AF2F604E-43BE-4DC3-B983-E071523364F8}"/>
          </ac:spMkLst>
        </pc:spChg>
        <pc:spChg chg="add del">
          <ac:chgData name="Burns, Matthew" userId="34ac012b-a8bb-4aad-9a84-1792b047c26c" providerId="ADAL" clId="{EF378475-C6AA-4616-B882-14DABAA70AB3}" dt="2023-11-13T10:44:48.097" v="12" actId="26606"/>
          <ac:spMkLst>
            <pc:docMk/>
            <pc:sldMk cId="0" sldId="340"/>
            <ac:spMk id="2070" creationId="{08C9B587-E65E-4B52-B37C-ABEBB6E87928}"/>
          </ac:spMkLst>
        </pc:spChg>
        <pc:spChg chg="add del">
          <ac:chgData name="Burns, Matthew" userId="34ac012b-a8bb-4aad-9a84-1792b047c26c" providerId="ADAL" clId="{EF378475-C6AA-4616-B882-14DABAA70AB3}" dt="2023-11-13T10:44:49.424" v="14" actId="26606"/>
          <ac:spMkLst>
            <pc:docMk/>
            <pc:sldMk cId="0" sldId="340"/>
            <ac:spMk id="2072" creationId="{06DA9DF9-31F7-4056-B42E-878CC92417B8}"/>
          </ac:spMkLst>
        </pc:spChg>
        <pc:spChg chg="add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074" creationId="{E91DC736-0EF8-4F87-9146-EBF1D2EE4D3D}"/>
          </ac:spMkLst>
        </pc:spChg>
        <pc:spChg chg="add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075" creationId="{097CD68E-23E3-4007-8847-CD0944C4F7BE}"/>
          </ac:spMkLst>
        </pc:spChg>
        <pc:spChg chg="add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076" creationId="{AF2F604E-43BE-4DC3-B983-E071523364F8}"/>
          </ac:spMkLst>
        </pc:spChg>
        <pc:spChg chg="add">
          <ac:chgData name="Burns, Matthew" userId="34ac012b-a8bb-4aad-9a84-1792b047c26c" providerId="ADAL" clId="{EF378475-C6AA-4616-B882-14DABAA70AB3}" dt="2023-11-13T10:44:49.432" v="15" actId="26606"/>
          <ac:spMkLst>
            <pc:docMk/>
            <pc:sldMk cId="0" sldId="340"/>
            <ac:spMk id="2077" creationId="{08C9B587-E65E-4B52-B37C-ABEBB6E87928}"/>
          </ac:spMkLst>
        </pc:spChg>
        <pc:picChg chg="mod ord modCrop">
          <ac:chgData name="Burns, Matthew" userId="34ac012b-a8bb-4aad-9a84-1792b047c26c" providerId="ADAL" clId="{EF378475-C6AA-4616-B882-14DABAA70AB3}" dt="2023-11-13T10:45:02.944" v="25" actId="732"/>
          <ac:picMkLst>
            <pc:docMk/>
            <pc:sldMk cId="0" sldId="340"/>
            <ac:picMk id="6" creationId="{4047B482-52D1-3E3D-B273-2560D2CD45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E7D34-D23E-488F-91E0-429E8CEF1407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CEF5D-298D-44D6-9CE9-3D502F0061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29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2532" name="Slide Number Placeholder 1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ヒラギノ角ゴ Pro W3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57DB364A-CCB2-449F-A79C-0A96B0F010D8}" type="slidenum">
              <a:rPr lang="en-US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821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910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44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71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9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49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7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638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60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50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56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055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4EFC2-20BD-4406-A717-7AFE4DBC512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352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D1A7A-40E4-45F4-B65F-0445489E8BE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795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B7B654-88EA-4097-8967-5E9515A185A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117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0A306-7425-48F2-88EA-0FFF17376A0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925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4D0F6-4699-4347-ACE1-55E67C82E19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584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220B0-53FC-4ED5-9AA7-6DD80BD6C15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647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C4E52-5B99-4F45-9727-D6B5F2C53B0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240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4613A-F03A-43C8-8B33-46A27683BB0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8553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C303BA-9797-4560-8DD9-2D63CC31DEC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915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1C31B-26B0-4EAD-B9A2-1277996BC2D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851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2BDFA-BA3E-470A-85E0-6BB2D99500D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94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0CBF8-EB50-4745-B812-FFAD363704B0}" type="datetimeFigureOut">
              <a:rPr lang="en-GB" smtClean="0"/>
              <a:t>13/11/2023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C66AF-0872-4268-8193-41836C311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1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1400"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798F0B8-B043-4719-A305-B9BD508F2549}" type="slidenum">
              <a:rPr 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1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defTabSz="7620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defTabSz="7620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defTabSz="7620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defTabSz="7620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defTabSz="762000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defTabSz="762000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defTabSz="762000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defTabSz="762000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defTabSz="762000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4" name="Rectangle 206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ilver server with several folders in it&#10;&#10;Description automatically generated">
            <a:extLst>
              <a:ext uri="{FF2B5EF4-FFF2-40B4-BE49-F238E27FC236}">
                <a16:creationId xmlns:a16="http://schemas.microsoft.com/office/drawing/2014/main" id="{4047B482-52D1-3E3D-B273-2560D2CD45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35532" b="-1"/>
          <a:stretch/>
        </p:blipFill>
        <p:spPr>
          <a:xfrm>
            <a:off x="2051720" y="10"/>
            <a:ext cx="7092280" cy="6857990"/>
          </a:xfrm>
          <a:prstGeom prst="rect">
            <a:avLst/>
          </a:prstGeom>
        </p:spPr>
      </p:pic>
      <p:sp>
        <p:nvSpPr>
          <p:cNvPr id="2075" name="Rectangle 206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 eaLnBrk="1" hangingPunct="1">
              <a:defRPr/>
            </a:pPr>
            <a:r>
              <a:rPr lang="en-US" altLang="en-US" sz="4200" b="1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COM106: Introduction to Databases</a:t>
            </a:r>
          </a:p>
        </p:txBody>
      </p:sp>
      <p:sp>
        <p:nvSpPr>
          <p:cNvPr id="2052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sz="1700" b="1">
                <a:latin typeface="Calibri" panose="020F0502020204030204" pitchFamily="34" charset="0"/>
                <a:cs typeface="Calibri" panose="020F0502020204030204" pitchFamily="34" charset="0"/>
              </a:rPr>
              <a:t>Database Management – Storage Structures</a:t>
            </a:r>
            <a:endParaRPr lang="en-US" altLang="en-US" sz="17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6" name="Rectangle 206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77" name="Rectangle 206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E7285B-FC41-C14D-BE33-4CD2BCB05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28114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1576A7A-390E-480F-80B6-D80EB17F78F3}" type="slidenum">
              <a:rPr lang="en-GB" sz="1000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GB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5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dirty="0">
                <a:latin typeface="Calibri" panose="020F0502020204030204" pitchFamily="34" charset="0"/>
              </a:rPr>
              <a:t>Database Management – Storage Structures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5717" y="718839"/>
            <a:ext cx="8928992" cy="59185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alibri" panose="020F0502020204030204" pitchFamily="34" charset="0"/>
              </a:defRPr>
            </a:lvl1pPr>
            <a:lvl2pPr marL="169863" lvl="1">
              <a:spcBef>
                <a:spcPts val="1200"/>
              </a:spcBef>
              <a:defRPr>
                <a:latin typeface="Calibri" panose="020F0502020204030204" pitchFamily="34" charset="0"/>
              </a:defRPr>
            </a:lvl2pPr>
          </a:lstStyle>
          <a:p>
            <a:pPr>
              <a:lnSpc>
                <a:spcPct val="90000"/>
              </a:lnSpc>
            </a:pPr>
            <a:r>
              <a:rPr lang="en-GB" sz="2400" b="1" dirty="0"/>
              <a:t>Overview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GB" b="1" dirty="0">
                <a:solidFill>
                  <a:srgbClr val="00B0F0"/>
                </a:solidFill>
              </a:rPr>
              <a:t>Physical Database Design </a:t>
            </a:r>
          </a:p>
          <a:p>
            <a:pPr marL="457200" lvl="2"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Key issues are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efficiency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and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performance</a:t>
            </a:r>
          </a:p>
          <a:p>
            <a:pPr marL="457200" lvl="2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How to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store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records efficiently on disk</a:t>
            </a:r>
          </a:p>
          <a:p>
            <a:pPr marL="457200" lvl="2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How to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retrieve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records as quickly as possible</a:t>
            </a:r>
          </a:p>
          <a:p>
            <a:pPr lvl="1">
              <a:lnSpc>
                <a:spcPct val="90000"/>
              </a:lnSpc>
            </a:pPr>
            <a:r>
              <a:rPr lang="en-GB" b="1" dirty="0">
                <a:solidFill>
                  <a:srgbClr val="00B0F0"/>
                </a:solidFill>
              </a:rPr>
              <a:t>Background Issues</a:t>
            </a:r>
          </a:p>
          <a:p>
            <a:pPr marL="457200" lvl="2"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Disk Access, Physical Sequence, Virtual Sequence</a:t>
            </a:r>
          </a:p>
          <a:p>
            <a:pPr lvl="1">
              <a:lnSpc>
                <a:spcPct val="90000"/>
              </a:lnSpc>
            </a:pPr>
            <a:r>
              <a:rPr lang="en-GB" b="1" dirty="0">
                <a:solidFill>
                  <a:srgbClr val="00B0F0"/>
                </a:solidFill>
              </a:rPr>
              <a:t>Available Storage Mechanisms</a:t>
            </a:r>
          </a:p>
          <a:p>
            <a:pPr marL="457200" lvl="2"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ISAM, B-Trees, Hashing</a:t>
            </a:r>
            <a:endParaRPr lang="en-GB" dirty="0"/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400" b="1" dirty="0"/>
              <a:t>Disk Access Review</a:t>
            </a:r>
          </a:p>
          <a:p>
            <a:pPr marL="169863">
              <a:lnSpc>
                <a:spcPct val="90000"/>
              </a:lnSpc>
            </a:pPr>
            <a:r>
              <a:rPr lang="en-US" dirty="0"/>
              <a:t>Physical database design is the process of selecting the</a:t>
            </a:r>
            <a:br>
              <a:rPr lang="en-US" dirty="0"/>
            </a:br>
            <a:r>
              <a:rPr lang="en-US" dirty="0"/>
              <a:t>appropriate storage representation for database tables. </a:t>
            </a:r>
          </a:p>
          <a:p>
            <a:pPr marL="457200" lvl="1">
              <a:lnSpc>
                <a:spcPct val="90000"/>
              </a:lnSpc>
              <a:spcBef>
                <a:spcPts val="0"/>
              </a:spcBef>
            </a:pPr>
            <a:r>
              <a:rPr lang="en-US" dirty="0"/>
              <a:t>requires details and frequency of common accesses</a:t>
            </a:r>
          </a:p>
          <a:p>
            <a:pPr marL="169863"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Basic Storage Concepts (Hard Disk)</a:t>
            </a:r>
          </a:p>
          <a:p>
            <a:pPr marL="457200" lvl="1">
              <a:lnSpc>
                <a:spcPct val="90000"/>
              </a:lnSpc>
              <a:spcBef>
                <a:spcPts val="0"/>
              </a:spcBef>
            </a:pPr>
            <a:r>
              <a:rPr lang="en-US" b="1" dirty="0">
                <a:solidFill>
                  <a:srgbClr val="00B0F0"/>
                </a:solidFill>
              </a:rPr>
              <a:t>disk access time = seek time + rotational delay</a:t>
            </a:r>
          </a:p>
          <a:p>
            <a:pPr marL="457200" lvl="1"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disk access times are </a:t>
            </a:r>
            <a:r>
              <a:rPr lang="en-US" b="1" dirty="0">
                <a:solidFill>
                  <a:srgbClr val="C00000"/>
                </a:solidFill>
              </a:rPr>
              <a:t>much slower </a:t>
            </a:r>
            <a:r>
              <a:rPr lang="en-US" dirty="0"/>
              <a:t>than access to main memory</a:t>
            </a:r>
          </a:p>
          <a:p>
            <a:pPr marL="457200" lvl="1"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the overriding DBMS performance objective is to </a:t>
            </a:r>
            <a:r>
              <a:rPr lang="en-US" b="1" dirty="0" err="1">
                <a:solidFill>
                  <a:srgbClr val="C00000"/>
                </a:solidFill>
              </a:rPr>
              <a:t>minimise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number of disk accesses (disk I/</a:t>
            </a:r>
            <a:r>
              <a:rPr lang="en-US" dirty="0" err="1"/>
              <a:t>Os</a:t>
            </a:r>
            <a:r>
              <a:rPr lang="en-US" dirty="0"/>
              <a:t>).</a:t>
            </a:r>
          </a:p>
          <a:p>
            <a:pPr marL="457200" lvl="1" algn="ctr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C00000"/>
                </a:solidFill>
              </a:rPr>
              <a:t>Disk access is the slowest component in queries on large tables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140" y="2708920"/>
            <a:ext cx="3491356" cy="2666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98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5076055" y="908720"/>
            <a:ext cx="3978573" cy="3279408"/>
            <a:chOff x="4854611" y="1484784"/>
            <a:chExt cx="4342432" cy="3682608"/>
          </a:xfrm>
        </p:grpSpPr>
        <p:sp>
          <p:nvSpPr>
            <p:cNvPr id="4" name="TextBox 3"/>
            <p:cNvSpPr txBox="1"/>
            <p:nvPr/>
          </p:nvSpPr>
          <p:spPr>
            <a:xfrm>
              <a:off x="6150755" y="1484784"/>
              <a:ext cx="1728192" cy="36933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DBMS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150755" y="2496296"/>
              <a:ext cx="1728192" cy="36933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File Manager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50755" y="3507808"/>
              <a:ext cx="1728192" cy="36933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Disk Manager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6150755" y="4519320"/>
              <a:ext cx="1728192" cy="648072"/>
              <a:chOff x="4427984" y="4950460"/>
              <a:chExt cx="1728192" cy="648072"/>
            </a:xfrm>
          </p:grpSpPr>
          <p:sp>
            <p:nvSpPr>
              <p:cNvPr id="7" name="Flowchart: Magnetic Disk 6"/>
              <p:cNvSpPr/>
              <p:nvPr/>
            </p:nvSpPr>
            <p:spPr>
              <a:xfrm>
                <a:off x="4427984" y="4950460"/>
                <a:ext cx="1728192" cy="648072"/>
              </a:xfrm>
              <a:prstGeom prst="flowChartMagneticDisk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608004" y="5195332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Stored DB</a:t>
                </a: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4854611" y="2016163"/>
              <a:ext cx="1296144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dirty="0">
                  <a:solidFill>
                    <a:srgbClr val="0070C0"/>
                  </a:solidFill>
                </a:rPr>
                <a:t>Request</a:t>
              </a:r>
              <a:br>
                <a:rPr lang="en-GB" sz="1400" dirty="0"/>
              </a:br>
              <a:r>
                <a:rPr lang="en-GB" sz="1400" dirty="0"/>
                <a:t>Stored Record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54611" y="3027676"/>
              <a:ext cx="1296144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dirty="0">
                  <a:solidFill>
                    <a:srgbClr val="0070C0"/>
                  </a:solidFill>
                </a:rPr>
                <a:t>Request</a:t>
              </a:r>
              <a:br>
                <a:rPr lang="en-GB" sz="1400" dirty="0"/>
              </a:br>
              <a:r>
                <a:rPr lang="en-GB" sz="1400" dirty="0"/>
                <a:t>Stored Page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54611" y="4039188"/>
              <a:ext cx="1296144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dirty="0">
                  <a:solidFill>
                    <a:srgbClr val="0070C0"/>
                  </a:solidFill>
                </a:rPr>
                <a:t>Disk I/O Operation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900899" y="2016164"/>
              <a:ext cx="1296144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dirty="0"/>
                <a:t>Stored Record</a:t>
              </a:r>
              <a:br>
                <a:rPr lang="en-GB" sz="1400" dirty="0"/>
              </a:br>
              <a:r>
                <a:rPr lang="en-GB" sz="1400" dirty="0">
                  <a:solidFill>
                    <a:srgbClr val="7030A0"/>
                  </a:solidFill>
                </a:rPr>
                <a:t>Returned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00899" y="3027675"/>
              <a:ext cx="1296144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dirty="0"/>
                <a:t>Stored Page</a:t>
              </a:r>
              <a:br>
                <a:rPr lang="en-GB" sz="1400" dirty="0"/>
              </a:br>
              <a:r>
                <a:rPr lang="en-GB" sz="1400" dirty="0">
                  <a:solidFill>
                    <a:srgbClr val="7030A0"/>
                  </a:solidFill>
                </a:rPr>
                <a:t>Returned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900899" y="4039187"/>
              <a:ext cx="1296144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dirty="0">
                  <a:solidFill>
                    <a:srgbClr val="7030A0"/>
                  </a:solidFill>
                </a:rPr>
                <a:t>Data Read from Disk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6324250" y="1854116"/>
              <a:ext cx="0" cy="642180"/>
            </a:xfrm>
            <a:prstGeom prst="straightConnector1">
              <a:avLst/>
            </a:prstGeom>
            <a:ln w="15875" cmpd="sng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6324250" y="2865628"/>
              <a:ext cx="0" cy="642180"/>
            </a:xfrm>
            <a:prstGeom prst="straightConnector1">
              <a:avLst/>
            </a:prstGeom>
            <a:ln w="15875" cmpd="sng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324250" y="3877140"/>
              <a:ext cx="0" cy="703988"/>
            </a:xfrm>
            <a:prstGeom prst="straightConnector1">
              <a:avLst/>
            </a:prstGeom>
            <a:ln w="15875" cmpd="sng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7745494" y="1854116"/>
              <a:ext cx="0" cy="642180"/>
            </a:xfrm>
            <a:prstGeom prst="straightConnector1">
              <a:avLst/>
            </a:prstGeom>
            <a:ln w="15875" cmpd="sng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745494" y="2865626"/>
              <a:ext cx="0" cy="642180"/>
            </a:xfrm>
            <a:prstGeom prst="straightConnector1">
              <a:avLst/>
            </a:prstGeom>
            <a:ln w="15875" cmpd="sng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7740352" y="3877138"/>
              <a:ext cx="10285" cy="703990"/>
            </a:xfrm>
            <a:prstGeom prst="straightConnector1">
              <a:avLst/>
            </a:prstGeom>
            <a:ln w="15875" cmpd="sng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solidFill>
                  <a:prstClr val="black"/>
                </a:solidFill>
                <a:latin typeface="Calibri"/>
              </a:rPr>
              <a:t>Storage Structures - </a:t>
            </a:r>
            <a:r>
              <a:rPr lang="en-US" dirty="0">
                <a:latin typeface="Calibri" panose="020F0502020204030204" pitchFamily="34" charset="0"/>
              </a:rPr>
              <a:t>DBMS/Hard Disk Interaction</a:t>
            </a: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92080" y="4365104"/>
            <a:ext cx="3762548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dirty="0"/>
              <a:t>A </a:t>
            </a:r>
            <a:r>
              <a:rPr lang="en-GB" b="1" dirty="0">
                <a:solidFill>
                  <a:srgbClr val="C00000"/>
                </a:solidFill>
              </a:rPr>
              <a:t>page</a:t>
            </a:r>
            <a:r>
              <a:rPr lang="en-GB" dirty="0"/>
              <a:t> (or </a:t>
            </a:r>
            <a:r>
              <a:rPr lang="en-GB" b="1" dirty="0">
                <a:solidFill>
                  <a:srgbClr val="C00000"/>
                </a:solidFill>
              </a:rPr>
              <a:t>block</a:t>
            </a:r>
            <a:r>
              <a:rPr lang="en-GB" dirty="0"/>
              <a:t>) – made up of a number of records - is the </a:t>
            </a:r>
            <a:r>
              <a:rPr lang="en-GB" dirty="0">
                <a:solidFill>
                  <a:srgbClr val="0070C0"/>
                </a:solidFill>
              </a:rPr>
              <a:t>smallest unit of disk 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504" y="736496"/>
            <a:ext cx="5189512" cy="3519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b="1" dirty="0">
                <a:solidFill>
                  <a:srgbClr val="0070C0"/>
                </a:solidFill>
              </a:rPr>
              <a:t>File Manager: </a:t>
            </a:r>
            <a:r>
              <a:rPr lang="en-GB" dirty="0"/>
              <a:t>operating system or DBMS component</a:t>
            </a:r>
          </a:p>
          <a:p>
            <a:pPr marL="287338" indent="-168275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/>
              <a:t>regards the disk as a collection of stored </a:t>
            </a:r>
            <a:r>
              <a:rPr lang="en-GB" b="1" dirty="0">
                <a:solidFill>
                  <a:srgbClr val="C00000"/>
                </a:solidFill>
              </a:rPr>
              <a:t>physical records</a:t>
            </a:r>
            <a:r>
              <a:rPr lang="en-GB" dirty="0"/>
              <a:t> (pages) each containing a number of stored </a:t>
            </a:r>
            <a:r>
              <a:rPr lang="en-GB" b="1" dirty="0">
                <a:solidFill>
                  <a:srgbClr val="C00000"/>
                </a:solidFill>
              </a:rPr>
              <a:t>logical records</a:t>
            </a:r>
            <a:r>
              <a:rPr lang="en-GB" dirty="0"/>
              <a:t>)</a:t>
            </a:r>
          </a:p>
          <a:p>
            <a:pPr marL="287338" indent="-168275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/>
              <a:t>performs operations such as </a:t>
            </a:r>
            <a:r>
              <a:rPr lang="en-GB" dirty="0">
                <a:solidFill>
                  <a:srgbClr val="0070C0"/>
                </a:solidFill>
              </a:rPr>
              <a:t>retrieve</a:t>
            </a:r>
            <a:r>
              <a:rPr lang="en-GB" dirty="0"/>
              <a:t>, </a:t>
            </a:r>
            <a:r>
              <a:rPr lang="en-GB" dirty="0">
                <a:solidFill>
                  <a:srgbClr val="0070C0"/>
                </a:solidFill>
              </a:rPr>
              <a:t>add</a:t>
            </a:r>
            <a:r>
              <a:rPr lang="en-GB" dirty="0"/>
              <a:t> or </a:t>
            </a:r>
            <a:r>
              <a:rPr lang="en-GB" dirty="0">
                <a:solidFill>
                  <a:srgbClr val="0070C0"/>
                </a:solidFill>
              </a:rPr>
              <a:t>remove</a:t>
            </a:r>
            <a:r>
              <a:rPr lang="en-GB" dirty="0"/>
              <a:t> a </a:t>
            </a:r>
            <a:r>
              <a:rPr lang="en-GB" b="1" dirty="0">
                <a:solidFill>
                  <a:srgbClr val="C00000"/>
                </a:solidFill>
              </a:rPr>
              <a:t>record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from a stored file or </a:t>
            </a:r>
            <a:r>
              <a:rPr lang="en-GB" dirty="0">
                <a:solidFill>
                  <a:srgbClr val="0070C0"/>
                </a:solidFill>
              </a:rPr>
              <a:t>create/destroy</a:t>
            </a:r>
            <a:r>
              <a:rPr lang="en-GB" dirty="0"/>
              <a:t> a stored file</a:t>
            </a:r>
          </a:p>
          <a:p>
            <a:pPr marL="287338" indent="-287338">
              <a:lnSpc>
                <a:spcPct val="90000"/>
              </a:lnSpc>
              <a:spcBef>
                <a:spcPts val="18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Disk Manager: </a:t>
            </a:r>
            <a:r>
              <a:rPr lang="en-GB" dirty="0">
                <a:latin typeface="Calibri" panose="020F0502020204030204" pitchFamily="34" charset="0"/>
              </a:rPr>
              <a:t>a component of the operating system responsible for all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physical</a:t>
            </a:r>
            <a:r>
              <a:rPr lang="en-GB" dirty="0">
                <a:latin typeface="Calibri" panose="020F0502020204030204" pitchFamily="34" charset="0"/>
              </a:rPr>
              <a:t> I/O operations</a:t>
            </a:r>
          </a:p>
          <a:p>
            <a:pPr marL="287338" indent="-168275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/>
              <a:t>deals with </a:t>
            </a:r>
            <a:r>
              <a:rPr lang="en-GB" b="1" dirty="0">
                <a:solidFill>
                  <a:srgbClr val="C00000"/>
                </a:solidFill>
              </a:rPr>
              <a:t>physical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disk addresses</a:t>
            </a:r>
          </a:p>
          <a:p>
            <a:pPr marL="287338" indent="-168275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/>
              <a:t>performs tasks such as </a:t>
            </a:r>
            <a:r>
              <a:rPr lang="en-GB" dirty="0">
                <a:solidFill>
                  <a:srgbClr val="0070C0"/>
                </a:solidFill>
              </a:rPr>
              <a:t>retrieving</a:t>
            </a:r>
            <a:r>
              <a:rPr lang="en-GB" dirty="0"/>
              <a:t>, </a:t>
            </a:r>
            <a:r>
              <a:rPr lang="en-GB" dirty="0">
                <a:solidFill>
                  <a:srgbClr val="0070C0"/>
                </a:solidFill>
              </a:rPr>
              <a:t>adding</a:t>
            </a:r>
            <a:r>
              <a:rPr lang="en-GB" dirty="0"/>
              <a:t> or </a:t>
            </a:r>
            <a:r>
              <a:rPr lang="en-GB" dirty="0">
                <a:solidFill>
                  <a:srgbClr val="0070C0"/>
                </a:solidFill>
              </a:rPr>
              <a:t>removing</a:t>
            </a:r>
            <a:r>
              <a:rPr lang="en-GB" dirty="0"/>
              <a:t> </a:t>
            </a:r>
            <a:r>
              <a:rPr lang="en-GB" b="1" dirty="0">
                <a:solidFill>
                  <a:srgbClr val="C00000"/>
                </a:solidFill>
              </a:rPr>
              <a:t>pages</a:t>
            </a:r>
            <a:r>
              <a:rPr lang="en-GB" dirty="0"/>
              <a:t> of data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107504" y="4374149"/>
            <a:ext cx="8947124" cy="247144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GB" b="1" dirty="0"/>
              <a:t>Physical vs Logical Records</a:t>
            </a:r>
          </a:p>
          <a:p>
            <a:pPr marL="287338" lvl="1"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0070C0"/>
                </a:solidFill>
              </a:rPr>
              <a:t>Physical Record</a:t>
            </a:r>
          </a:p>
          <a:p>
            <a:pPr marL="576263" lvl="2" indent="-16827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Unit of transfer between disk and primary storage</a:t>
            </a:r>
          </a:p>
          <a:p>
            <a:pPr marL="576263" lvl="2" indent="-168275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Generally contains more than one logical record</a:t>
            </a:r>
          </a:p>
          <a:p>
            <a:pPr marL="576263" lvl="2" indent="-168275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Based on a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page</a:t>
            </a:r>
            <a:r>
              <a:rPr lang="en-GB" dirty="0">
                <a:latin typeface="Calibri" panose="020F0502020204030204" pitchFamily="34" charset="0"/>
              </a:rPr>
              <a:t> or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block</a:t>
            </a:r>
            <a:r>
              <a:rPr lang="en-GB" dirty="0">
                <a:latin typeface="Calibri" panose="020F0502020204030204" pitchFamily="34" charset="0"/>
              </a:rPr>
              <a:t>, which is a storage unit containing several database records</a:t>
            </a:r>
          </a:p>
          <a:p>
            <a:pPr marL="457200" lvl="2">
              <a:lnSpc>
                <a:spcPct val="90000"/>
              </a:lnSpc>
              <a:spcBef>
                <a:spcPts val="400"/>
              </a:spcBef>
            </a:pP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Generally one disk access involves several pages and hence a number of records</a:t>
            </a:r>
          </a:p>
          <a:p>
            <a:pPr marL="287338" lvl="1"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0070C0"/>
                </a:solidFill>
              </a:rPr>
              <a:t>Logical Record</a:t>
            </a:r>
          </a:p>
          <a:p>
            <a:pPr marL="576263" lvl="2" indent="-168275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A database record consisting of a set of field (attribute) values</a:t>
            </a:r>
          </a:p>
        </p:txBody>
      </p:sp>
    </p:spTree>
    <p:extLst>
      <p:ext uri="{BB962C8B-B14F-4D97-AF65-F5344CB8AC3E}">
        <p14:creationId xmlns:p14="http://schemas.microsoft.com/office/powerpoint/2010/main" val="336039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  <p:bldP spid="33" grpId="0" build="p"/>
      <p:bldP spid="3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solidFill>
                  <a:prstClr val="black"/>
                </a:solidFill>
                <a:latin typeface="Calibri"/>
              </a:rPr>
              <a:t>Storage Structures</a:t>
            </a: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367" y="836712"/>
            <a:ext cx="8928992" cy="4813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Stored files may have more than one method of access: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Primary organisation</a:t>
            </a:r>
            <a:r>
              <a:rPr lang="en-GB" dirty="0">
                <a:latin typeface="Calibri" panose="020F0502020204030204" pitchFamily="34" charset="0"/>
              </a:rPr>
              <a:t>: based on the physical location of individual records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Secondary organisation</a:t>
            </a:r>
            <a:r>
              <a:rPr lang="en-GB" dirty="0">
                <a:latin typeface="Calibri" panose="020F0502020204030204" pitchFamily="34" charset="0"/>
              </a:rPr>
              <a:t>:  independent of physical storage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GB" dirty="0">
                <a:latin typeface="Calibri" panose="020F0502020204030204" pitchFamily="34" charset="0"/>
              </a:rPr>
              <a:t>File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relationships</a:t>
            </a:r>
            <a:r>
              <a:rPr lang="en-GB" dirty="0">
                <a:latin typeface="Calibri" panose="020F0502020204030204" pitchFamily="34" charset="0"/>
              </a:rPr>
              <a:t> implemented as access paths 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As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pointers</a:t>
            </a:r>
            <a:r>
              <a:rPr lang="en-GB" dirty="0">
                <a:latin typeface="Calibri" panose="020F0502020204030204" pitchFamily="34" charset="0"/>
              </a:rPr>
              <a:t> between records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As physical record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clustering</a:t>
            </a:r>
            <a:r>
              <a:rPr lang="en-GB" dirty="0">
                <a:latin typeface="Calibri" panose="020F0502020204030204" pitchFamily="34" charset="0"/>
              </a:rPr>
              <a:t> (records from both files stored  closely on the same or adjacent pages)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GB" dirty="0">
                <a:latin typeface="Calibri" panose="020F0502020204030204" pitchFamily="34" charset="0"/>
              </a:rPr>
              <a:t>File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organisation</a:t>
            </a:r>
            <a:r>
              <a:rPr lang="en-GB" dirty="0">
                <a:latin typeface="Calibri" panose="020F0502020204030204" pitchFamily="34" charset="0"/>
              </a:rPr>
              <a:t> options include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sequential</a:t>
            </a:r>
            <a:r>
              <a:rPr lang="en-GB" dirty="0">
                <a:latin typeface="Calibri" panose="020F0502020204030204" pitchFamily="34" charset="0"/>
              </a:rPr>
              <a:t>,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indexing</a:t>
            </a:r>
            <a:r>
              <a:rPr lang="en-GB" dirty="0">
                <a:latin typeface="Calibri" panose="020F0502020204030204" pitchFamily="34" charset="0"/>
              </a:rPr>
              <a:t>,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hashing </a:t>
            </a:r>
            <a:r>
              <a:rPr lang="en-GB" dirty="0">
                <a:latin typeface="Calibri" panose="020F0502020204030204" pitchFamily="34" charset="0"/>
              </a:rPr>
              <a:t>and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pointer chains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GB" dirty="0">
                <a:latin typeface="Calibri" panose="020F0502020204030204" pitchFamily="34" charset="0"/>
              </a:rPr>
              <a:t>The storage structure is the arrangement of data on the hard disk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Many different storage structures are possible (e.g. 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ISAM</a:t>
            </a:r>
            <a:r>
              <a:rPr lang="en-GB" dirty="0">
                <a:latin typeface="Calibri" panose="020F0502020204030204" pitchFamily="34" charset="0"/>
              </a:rPr>
              <a:t>,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hashing</a:t>
            </a:r>
            <a:r>
              <a:rPr lang="en-GB" dirty="0">
                <a:latin typeface="Calibri" panose="020F0502020204030204" pitchFamily="34" charset="0"/>
              </a:rPr>
              <a:t>,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B-trees</a:t>
            </a:r>
            <a:r>
              <a:rPr lang="en-GB" dirty="0">
                <a:latin typeface="Calibri" panose="020F0502020204030204" pitchFamily="34" charset="0"/>
              </a:rPr>
              <a:t>)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Different storage structures have different performance characteristics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No single structure is best for all applications (depends on table size, access frequency and type, update frequency, etc.)</a:t>
            </a:r>
          </a:p>
          <a:p>
            <a:pPr>
              <a:lnSpc>
                <a:spcPct val="90000"/>
              </a:lnSpc>
            </a:pPr>
            <a:endParaRPr lang="en-GB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7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US" dirty="0"/>
              <a:t>Sequential </a:t>
            </a:r>
            <a:r>
              <a:rPr lang="en-US" dirty="0" err="1"/>
              <a:t>Organisation</a:t>
            </a: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25" y="764704"/>
            <a:ext cx="8928992" cy="4850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In a sequentially organised file, records are placed in sequence (e.g. ascending </a:t>
            </a:r>
            <a:r>
              <a:rPr lang="en-GB" b="1" dirty="0">
                <a:solidFill>
                  <a:srgbClr val="0070C0"/>
                </a:solidFill>
              </a:rPr>
              <a:t>order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/>
              <a:t>of primary key values)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useful for processing of most records in a table at one go (e.g. update of payroll </a:t>
            </a:r>
            <a:r>
              <a:rPr lang="en-GB">
                <a:latin typeface="Calibri" panose="020F0502020204030204" pitchFamily="34" charset="0"/>
              </a:rPr>
              <a:t>system main </a:t>
            </a:r>
            <a:r>
              <a:rPr lang="en-GB" dirty="0">
                <a:latin typeface="Calibri" panose="020F0502020204030204" pitchFamily="34" charset="0"/>
              </a:rPr>
              <a:t>file)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/>
              <a:t>There are two types of sequential organisation:-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C00000"/>
                </a:solidFill>
              </a:rPr>
              <a:t>Physical sequence: </a:t>
            </a:r>
          </a:p>
          <a:p>
            <a:pPr marL="360363" indent="-1841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records are physically stored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in sequence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insertion of records requires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sorting entire file</a:t>
            </a:r>
          </a:p>
          <a:p>
            <a:pPr>
              <a:lnSpc>
                <a:spcPct val="90000"/>
              </a:lnSpc>
              <a:spcBef>
                <a:spcPts val="2400"/>
              </a:spcBef>
            </a:pPr>
            <a:r>
              <a:rPr lang="en-GB" b="1" dirty="0">
                <a:solidFill>
                  <a:srgbClr val="C00000"/>
                </a:solidFill>
              </a:rPr>
              <a:t>Logical sequence:</a:t>
            </a:r>
          </a:p>
          <a:p>
            <a:pPr marL="360363" indent="-1841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stored records are logically linked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in sequence by pointers (e.g. in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network/ hierarchical databases)</a:t>
            </a:r>
          </a:p>
          <a:p>
            <a:pPr marL="360363" indent="-1841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insertion or deletion requires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pointer redirection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533045" y="2192118"/>
            <a:ext cx="5478190" cy="1995730"/>
            <a:chOff x="3558306" y="2185119"/>
            <a:chExt cx="5478190" cy="199573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8306" y="2492896"/>
              <a:ext cx="5478190" cy="1263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4020926" y="2185119"/>
              <a:ext cx="4572000" cy="27699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n-GB" sz="1200" dirty="0" err="1"/>
                <a:t>EMP</a:t>
              </a:r>
              <a:r>
                <a:rPr lang="en-GB" sz="1200" dirty="0"/>
                <a:t> (</a:t>
              </a:r>
              <a:r>
                <a:rPr lang="en-GB" sz="1200" dirty="0" err="1"/>
                <a:t>enum</a:t>
              </a:r>
              <a:r>
                <a:rPr lang="en-GB" sz="1200" dirty="0"/>
                <a:t>, </a:t>
              </a:r>
              <a:r>
                <a:rPr lang="en-GB" sz="1200" dirty="0" err="1"/>
                <a:t>ename</a:t>
              </a:r>
              <a:r>
                <a:rPr lang="en-GB" sz="1200" dirty="0"/>
                <a:t>, salary, </a:t>
              </a:r>
              <a:r>
                <a:rPr lang="en-GB" sz="1200" dirty="0" err="1"/>
                <a:t>dnum</a:t>
              </a:r>
              <a:r>
                <a:rPr lang="en-GB" sz="1200" dirty="0"/>
                <a:t>) stored in </a:t>
              </a:r>
              <a:r>
                <a:rPr lang="en-GB" sz="1200" b="1" dirty="0" err="1">
                  <a:solidFill>
                    <a:srgbClr val="0070C0"/>
                  </a:solidFill>
                </a:rPr>
                <a:t>enum</a:t>
              </a:r>
              <a:r>
                <a:rPr lang="en-GB" sz="1200" dirty="0">
                  <a:solidFill>
                    <a:srgbClr val="0070C0"/>
                  </a:solidFill>
                </a:rPr>
                <a:t> </a:t>
              </a:r>
              <a:r>
                <a:rPr lang="en-GB" sz="1200" dirty="0"/>
                <a:t>order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209169" y="3756117"/>
              <a:ext cx="4176464" cy="4247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200" dirty="0" err="1"/>
                <a:t>EMP</a:t>
              </a:r>
              <a:r>
                <a:rPr lang="en-GB" sz="1200" dirty="0"/>
                <a:t> records stored in sequence in consecutive memory pages (</a:t>
              </a:r>
              <a:r>
                <a:rPr lang="en-GB" sz="1200" b="1" dirty="0">
                  <a:solidFill>
                    <a:srgbClr val="0070C0"/>
                  </a:solidFill>
                </a:rPr>
                <a:t>physical sequence</a:t>
              </a:r>
              <a:r>
                <a:rPr lang="en-GB" sz="1200" dirty="0"/>
                <a:t>)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899592" y="5691685"/>
            <a:ext cx="2880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1200" dirty="0" err="1"/>
              <a:t>EMP</a:t>
            </a:r>
            <a:r>
              <a:rPr lang="en-GB" sz="1200" dirty="0"/>
              <a:t> records not stored in physical sequence but in </a:t>
            </a:r>
            <a:r>
              <a:rPr lang="en-GB" sz="1200" b="1" dirty="0">
                <a:solidFill>
                  <a:srgbClr val="0070C0"/>
                </a:solidFill>
              </a:rPr>
              <a:t>logical sequence </a:t>
            </a:r>
            <a:r>
              <a:rPr lang="en-GB" sz="1200" dirty="0"/>
              <a:t>using a memory address (page </a:t>
            </a:r>
            <a:r>
              <a:rPr lang="en-GB" sz="1200" b="1" dirty="0">
                <a:solidFill>
                  <a:srgbClr val="C00000"/>
                </a:solidFill>
              </a:rPr>
              <a:t>pointer</a:t>
            </a:r>
            <a:r>
              <a:rPr lang="en-GB" sz="1200" dirty="0"/>
              <a:t>) to point to the page holding the next record in sequence (virtual sequence)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851920" y="4425824"/>
            <a:ext cx="5184576" cy="2304959"/>
            <a:chOff x="3851920" y="4304129"/>
            <a:chExt cx="5184576" cy="2304959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4581128"/>
              <a:ext cx="5184576" cy="2027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4158208" y="4304129"/>
              <a:ext cx="4572000" cy="27699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n-GB" sz="1200" dirty="0" err="1"/>
                <a:t>EMP</a:t>
              </a:r>
              <a:r>
                <a:rPr lang="en-GB" sz="1200" dirty="0"/>
                <a:t> (</a:t>
              </a:r>
              <a:r>
                <a:rPr lang="en-GB" sz="1200" dirty="0" err="1"/>
                <a:t>enum</a:t>
              </a:r>
              <a:r>
                <a:rPr lang="en-GB" sz="1200" dirty="0"/>
                <a:t>, </a:t>
              </a:r>
              <a:r>
                <a:rPr lang="en-GB" sz="1200" dirty="0" err="1"/>
                <a:t>ename</a:t>
              </a:r>
              <a:r>
                <a:rPr lang="en-GB" sz="1200" dirty="0"/>
                <a:t>, salary, </a:t>
              </a:r>
              <a:r>
                <a:rPr lang="en-GB" sz="1200" dirty="0" err="1"/>
                <a:t>dnum</a:t>
              </a:r>
              <a:r>
                <a:rPr lang="en-GB" sz="1200" dirty="0"/>
                <a:t>) stored in </a:t>
              </a:r>
              <a:r>
                <a:rPr lang="en-GB" sz="1200" b="1" dirty="0">
                  <a:solidFill>
                    <a:srgbClr val="0070C0"/>
                  </a:solidFill>
                </a:rPr>
                <a:t>logical </a:t>
              </a:r>
              <a:r>
                <a:rPr lang="en-GB" sz="1200" dirty="0"/>
                <a:t>order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649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Database Storage Structures – File Organisation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504" y="750186"/>
            <a:ext cx="8928992" cy="6060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8638" indent="-1798638"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File Organisation –	The physical arrangement of data in a file into records and pages on secondary storage.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The main types of file organisation are:</a:t>
            </a:r>
          </a:p>
          <a:p>
            <a:pPr marL="355600" indent="-193675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5600" algn="l"/>
                <a:tab pos="2955925" algn="l"/>
              </a:tabLst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Heap</a:t>
            </a:r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(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unordered</a:t>
            </a:r>
            <a:r>
              <a:rPr lang="en-GB" dirty="0">
                <a:latin typeface="Calibri" panose="020F0502020204030204" pitchFamily="34" charset="0"/>
              </a:rPr>
              <a:t> files) -	Records are placed on disk in no particular order.</a:t>
            </a:r>
          </a:p>
          <a:p>
            <a:pPr marL="355600" indent="-19367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  <a:tab pos="2955925" algn="l"/>
              </a:tabLst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Sequential</a:t>
            </a:r>
            <a:r>
              <a:rPr lang="en-GB" dirty="0">
                <a:latin typeface="Calibri" panose="020F0502020204030204" pitchFamily="34" charset="0"/>
              </a:rPr>
              <a:t> (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ordered</a:t>
            </a:r>
            <a:r>
              <a:rPr lang="en-GB" dirty="0">
                <a:latin typeface="Calibri" panose="020F0502020204030204" pitchFamily="34" charset="0"/>
              </a:rPr>
              <a:t>) files –	Records are ordered by the value of a specified field</a:t>
            </a:r>
          </a:p>
          <a:p>
            <a:pPr marL="161925">
              <a:lnSpc>
                <a:spcPct val="90000"/>
              </a:lnSpc>
              <a:spcBef>
                <a:spcPts val="600"/>
              </a:spcBef>
              <a:tabLst>
                <a:tab pos="355600" algn="l"/>
                <a:tab pos="2955925" algn="l"/>
              </a:tabLst>
            </a:pPr>
            <a:r>
              <a:rPr lang="en-GB" dirty="0">
                <a:latin typeface="Calibri" panose="020F0502020204030204" pitchFamily="34" charset="0"/>
              </a:rPr>
              <a:t>		We shall look at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ISAM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(Indexed Sequential Access Method)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		and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B-Tree</a:t>
            </a:r>
          </a:p>
          <a:p>
            <a:pPr marL="355600" indent="-19367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  <a:tab pos="2955925" algn="l"/>
              </a:tabLst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Hash</a:t>
            </a:r>
            <a:r>
              <a:rPr lang="en-GB" dirty="0">
                <a:latin typeface="Calibri" panose="020F0502020204030204" pitchFamily="34" charset="0"/>
              </a:rPr>
              <a:t> files –	Records are placed on disk according to a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hash function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The Heap</a:t>
            </a: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The basic default storage structure in SQL Server if no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clustered index </a:t>
            </a:r>
            <a:r>
              <a:rPr lang="en-GB" dirty="0">
                <a:latin typeface="Calibri" panose="020F0502020204030204" pitchFamily="34" charset="0"/>
              </a:rPr>
              <a:t>is used</a:t>
            </a: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Records stored in order they arrive (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no sorting</a:t>
            </a:r>
            <a:r>
              <a:rPr lang="en-GB" dirty="0">
                <a:latin typeface="Calibri" panose="020F0502020204030204" pitchFamily="34" charset="0"/>
              </a:rPr>
              <a:t>)</a:t>
            </a: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Advantages</a:t>
            </a:r>
          </a:p>
          <a:p>
            <a:pPr marL="355600"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Quick loading of bulk records</a:t>
            </a:r>
          </a:p>
          <a:p>
            <a:pPr marL="35560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Good for small tables</a:t>
            </a:r>
          </a:p>
          <a:p>
            <a:pPr marL="182563"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Disadvantages</a:t>
            </a:r>
          </a:p>
          <a:p>
            <a:pPr marL="355600"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Retrieval requires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all records </a:t>
            </a:r>
            <a:r>
              <a:rPr lang="en-GB" dirty="0">
                <a:latin typeface="Calibri" panose="020F0502020204030204" pitchFamily="34" charset="0"/>
              </a:rPr>
              <a:t>to be examined –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sequential (or linear) search</a:t>
            </a:r>
          </a:p>
          <a:p>
            <a:pPr marL="35560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Poor for tables with significant record changes (higher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volatility</a:t>
            </a:r>
            <a:r>
              <a:rPr lang="en-GB" dirty="0">
                <a:latin typeface="Calibri" panose="020F0502020204030204" pitchFamily="34" charset="0"/>
              </a:rPr>
              <a:t>)</a:t>
            </a:r>
          </a:p>
          <a:p>
            <a:pPr marL="35560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So, for tables with a sizeable number of records (100s+) or higher volatility (higher rates of insert, update, delete) a different storage structure is necessary</a:t>
            </a:r>
          </a:p>
        </p:txBody>
      </p:sp>
    </p:spTree>
    <p:extLst>
      <p:ext uri="{BB962C8B-B14F-4D97-AF65-F5344CB8AC3E}">
        <p14:creationId xmlns:p14="http://schemas.microsoft.com/office/powerpoint/2010/main" val="167777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blog.penjee.com/wp-content/uploads/2015/04/binary-and-linear-search-animations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369" y="2589546"/>
            <a:ext cx="4649631" cy="309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7504" y="836712"/>
            <a:ext cx="8928992" cy="604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</a:pPr>
            <a:r>
              <a:rPr lang="en-GB" dirty="0">
                <a:solidFill>
                  <a:prstClr val="black"/>
                </a:solidFill>
                <a:latin typeface="Calibri"/>
              </a:rPr>
              <a:t>In an </a:t>
            </a:r>
            <a:r>
              <a:rPr lang="en-GB" b="1" dirty="0">
                <a:solidFill>
                  <a:srgbClr val="0070C0"/>
                </a:solidFill>
                <a:latin typeface="Calibri"/>
              </a:rPr>
              <a:t>ordered</a:t>
            </a:r>
            <a:r>
              <a:rPr lang="en-GB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file, records are stored in order. A </a:t>
            </a:r>
            <a:r>
              <a:rPr lang="en-GB" b="1" dirty="0">
                <a:solidFill>
                  <a:srgbClr val="C00000"/>
                </a:solidFill>
                <a:latin typeface="Calibri"/>
              </a:rPr>
              <a:t>Binary Search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can then be used to find the required record.</a:t>
            </a:r>
          </a:p>
          <a:p>
            <a:pPr lvl="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solidFill>
                  <a:prstClr val="black"/>
                </a:solidFill>
                <a:latin typeface="Calibri"/>
              </a:rPr>
              <a:t>Consider the process of finding </a:t>
            </a:r>
            <a:r>
              <a:rPr lang="en-GB" b="1" dirty="0">
                <a:solidFill>
                  <a:srgbClr val="0070C0"/>
                </a:solidFill>
                <a:latin typeface="Calibri"/>
              </a:rPr>
              <a:t>‘record 37’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in a list of ordered records</a:t>
            </a:r>
          </a:p>
          <a:p>
            <a:pPr lvl="0">
              <a:lnSpc>
                <a:spcPct val="90000"/>
              </a:lnSpc>
              <a:spcBef>
                <a:spcPts val="4800"/>
              </a:spcBef>
            </a:pPr>
            <a:r>
              <a:rPr lang="en-GB" dirty="0">
                <a:solidFill>
                  <a:prstClr val="black"/>
                </a:solidFill>
                <a:latin typeface="Calibri"/>
              </a:rPr>
              <a:t>Similar to manually finding a persons name in a telephone directory</a:t>
            </a:r>
          </a:p>
          <a:p>
            <a:pPr marL="357188" lvl="0" indent="-17462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prstClr val="black"/>
                </a:solidFill>
                <a:latin typeface="Calibri"/>
              </a:rPr>
              <a:t>Go to the </a:t>
            </a:r>
            <a:r>
              <a:rPr lang="en-GB" b="1" dirty="0">
                <a:solidFill>
                  <a:srgbClr val="0070C0"/>
                </a:solidFill>
                <a:latin typeface="Calibri"/>
              </a:rPr>
              <a:t>middle</a:t>
            </a:r>
            <a:r>
              <a:rPr lang="en-GB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record in the file.</a:t>
            </a:r>
          </a:p>
          <a:p>
            <a:pPr marL="357188" lvl="0" indent="-17462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prstClr val="black"/>
                </a:solidFill>
                <a:latin typeface="Calibri"/>
              </a:rPr>
              <a:t>If the required record is greater</a:t>
            </a:r>
            <a:br>
              <a:rPr lang="en-GB" dirty="0">
                <a:solidFill>
                  <a:prstClr val="black"/>
                </a:solidFill>
                <a:latin typeface="Calibri"/>
              </a:rPr>
            </a:br>
            <a:r>
              <a:rPr lang="en-GB" dirty="0">
                <a:solidFill>
                  <a:prstClr val="black"/>
                </a:solidFill>
                <a:latin typeface="Calibri"/>
              </a:rPr>
              <a:t>- go to the middle record in the </a:t>
            </a:r>
            <a:r>
              <a:rPr lang="en-GB" b="1" dirty="0">
                <a:solidFill>
                  <a:srgbClr val="C00000"/>
                </a:solidFill>
                <a:latin typeface="Calibri"/>
              </a:rPr>
              <a:t>top</a:t>
            </a:r>
            <a:br>
              <a:rPr lang="en-GB" dirty="0">
                <a:solidFill>
                  <a:prstClr val="black"/>
                </a:solidFill>
                <a:latin typeface="Calibri"/>
              </a:rPr>
            </a:br>
            <a:r>
              <a:rPr lang="en-GB" dirty="0">
                <a:solidFill>
                  <a:prstClr val="black"/>
                </a:solidFill>
                <a:latin typeface="Calibri"/>
              </a:rPr>
              <a:t>half of the file</a:t>
            </a:r>
          </a:p>
          <a:p>
            <a:pPr marL="357188" indent="-17462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prstClr val="black"/>
                </a:solidFill>
                <a:latin typeface="Calibri"/>
              </a:rPr>
              <a:t>Otherwise - go to the middle record</a:t>
            </a:r>
            <a:br>
              <a:rPr lang="en-GB" dirty="0">
                <a:solidFill>
                  <a:prstClr val="black"/>
                </a:solidFill>
                <a:latin typeface="Calibri"/>
              </a:rPr>
            </a:br>
            <a:r>
              <a:rPr lang="en-GB" dirty="0">
                <a:solidFill>
                  <a:prstClr val="black"/>
                </a:solidFill>
                <a:latin typeface="Calibri"/>
              </a:rPr>
              <a:t>in the </a:t>
            </a:r>
            <a:r>
              <a:rPr lang="en-GB" b="1" dirty="0">
                <a:solidFill>
                  <a:srgbClr val="C00000"/>
                </a:solidFill>
                <a:latin typeface="Calibri"/>
              </a:rPr>
              <a:t>bottom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half of the file</a:t>
            </a: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0070C0"/>
                </a:solidFill>
                <a:latin typeface="Calibri"/>
              </a:rPr>
              <a:t>Continue</a:t>
            </a:r>
            <a:r>
              <a:rPr lang="en-GB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this ‘divide and conquer’ method,</a:t>
            </a:r>
            <a:br>
              <a:rPr lang="en-GB" dirty="0">
                <a:solidFill>
                  <a:prstClr val="black"/>
                </a:solidFill>
                <a:latin typeface="Calibri"/>
              </a:rPr>
            </a:br>
            <a:r>
              <a:rPr lang="en-GB" dirty="0">
                <a:solidFill>
                  <a:prstClr val="black"/>
                </a:solidFill>
                <a:latin typeface="Calibri"/>
              </a:rPr>
              <a:t>continually </a:t>
            </a:r>
            <a:r>
              <a:rPr lang="en-GB" b="1" dirty="0">
                <a:solidFill>
                  <a:srgbClr val="C00000"/>
                </a:solidFill>
                <a:latin typeface="Calibri"/>
              </a:rPr>
              <a:t>halving</a:t>
            </a:r>
            <a:r>
              <a:rPr lang="en-GB" dirty="0">
                <a:solidFill>
                  <a:srgbClr val="C00000"/>
                </a:solidFill>
                <a:latin typeface="Calibri"/>
              </a:rPr>
              <a:t>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the number of records</a:t>
            </a:r>
            <a:br>
              <a:rPr lang="en-GB" dirty="0">
                <a:solidFill>
                  <a:prstClr val="black"/>
                </a:solidFill>
                <a:latin typeface="Calibri"/>
              </a:rPr>
            </a:br>
            <a:r>
              <a:rPr lang="en-GB" dirty="0">
                <a:solidFill>
                  <a:prstClr val="black"/>
                </a:solidFill>
                <a:latin typeface="Calibri"/>
              </a:rPr>
              <a:t>to be searched, until the required value</a:t>
            </a:r>
            <a:br>
              <a:rPr lang="en-GB" dirty="0">
                <a:solidFill>
                  <a:prstClr val="black"/>
                </a:solidFill>
                <a:latin typeface="Calibri"/>
              </a:rPr>
            </a:br>
            <a:r>
              <a:rPr lang="en-GB" dirty="0">
                <a:solidFill>
                  <a:prstClr val="black"/>
                </a:solidFill>
                <a:latin typeface="Calibri"/>
              </a:rPr>
              <a:t>is found.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GB" dirty="0">
                <a:solidFill>
                  <a:prstClr val="black"/>
                </a:solidFill>
                <a:latin typeface="Calibri"/>
              </a:rPr>
              <a:t>Compare this </a:t>
            </a:r>
            <a:r>
              <a:rPr lang="en-GB" b="1" dirty="0">
                <a:solidFill>
                  <a:srgbClr val="C00000"/>
                </a:solidFill>
                <a:latin typeface="Calibri"/>
              </a:rPr>
              <a:t>binary search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with a </a:t>
            </a:r>
            <a:r>
              <a:rPr lang="en-GB" b="1" dirty="0">
                <a:solidFill>
                  <a:srgbClr val="C00000"/>
                </a:solidFill>
                <a:latin typeface="Calibri"/>
              </a:rPr>
              <a:t>sequential search</a:t>
            </a: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solidFill>
                  <a:prstClr val="black"/>
                </a:solidFill>
                <a:latin typeface="Calibri"/>
              </a:rPr>
              <a:t>On average, a sequential search of </a:t>
            </a:r>
            <a:r>
              <a:rPr lang="en-GB" b="1" dirty="0">
                <a:solidFill>
                  <a:srgbClr val="0070C0"/>
                </a:solidFill>
                <a:latin typeface="Calibri"/>
              </a:rPr>
              <a:t>n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GB">
                <a:solidFill>
                  <a:prstClr val="black"/>
                </a:solidFill>
                <a:latin typeface="Calibri"/>
              </a:rPr>
              <a:t>records will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take </a:t>
            </a:r>
            <a:r>
              <a:rPr lang="en-GB" b="1" dirty="0">
                <a:solidFill>
                  <a:srgbClr val="0070C0"/>
                </a:solidFill>
                <a:latin typeface="Calibri"/>
              </a:rPr>
              <a:t>n/2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accesses.</a:t>
            </a: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solidFill>
                  <a:prstClr val="black"/>
                </a:solidFill>
                <a:latin typeface="Calibri"/>
              </a:rPr>
              <a:t>For a small number of records, sequential search may be faster (less overhead).</a:t>
            </a: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solidFill>
                  <a:prstClr val="black"/>
                </a:solidFill>
                <a:latin typeface="Calibri"/>
              </a:rPr>
              <a:t>For files with over about 100 records, binary search can be significantly more efficient.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Retrieving a Record from an Ordered File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3" y="1772816"/>
            <a:ext cx="5629052" cy="51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1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Indexing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620688"/>
            <a:ext cx="8928992" cy="640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An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index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is a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data structure </a:t>
            </a:r>
            <a:r>
              <a:rPr lang="en-GB" dirty="0">
                <a:latin typeface="Calibri" panose="020F0502020204030204" pitchFamily="34" charset="0"/>
              </a:rPr>
              <a:t>allowing a DBMS to locate particular records more quickly and hence speed up queries</a:t>
            </a:r>
          </a:p>
          <a:p>
            <a:pPr marL="357188" indent="-17462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For example, a book index has each index term (stored in alphabetic order) with a page number</a:t>
            </a:r>
          </a:p>
          <a:p>
            <a:pPr marL="357188" indent="-17462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Likewise, a database index (on a particular attribute) has each attribute value (stored in order) with a memory address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An index gives direct access to a record and prevents having to scan every record sequentially to find the one required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However the index itself has to be searched to find the index entry required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An index can be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clustered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or </a:t>
            </a:r>
            <a:r>
              <a:rPr lang="en-GB" b="1" dirty="0" err="1">
                <a:solidFill>
                  <a:srgbClr val="C00000"/>
                </a:solidFill>
                <a:latin typeface="Calibri" panose="020F0502020204030204" pitchFamily="34" charset="0"/>
              </a:rPr>
              <a:t>nonclustered</a:t>
            </a:r>
            <a:endParaRPr lang="en-GB" b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Clustered index: </a:t>
            </a:r>
            <a:r>
              <a:rPr lang="en-GB" dirty="0">
                <a:latin typeface="Calibri" panose="020F0502020204030204" pitchFamily="34" charset="0"/>
              </a:rPr>
              <a:t>created on attribute that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is also physically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sorted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in attribute order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(e.g. primary key)</a:t>
            </a:r>
          </a:p>
          <a:p>
            <a:pPr marL="182563">
              <a:lnSpc>
                <a:spcPct val="90000"/>
              </a:lnSpc>
              <a:spcBef>
                <a:spcPts val="600"/>
              </a:spcBef>
            </a:pP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Nonclustered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 index: </a:t>
            </a:r>
            <a:r>
              <a:rPr lang="en-GB" dirty="0">
                <a:latin typeface="Calibri" panose="020F0502020204030204" pitchFamily="34" charset="0"/>
              </a:rPr>
              <a:t>created on attribute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that is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NOT sorted </a:t>
            </a:r>
            <a:r>
              <a:rPr lang="en-GB" dirty="0">
                <a:latin typeface="Calibri" panose="020F0502020204030204" pitchFamily="34" charset="0"/>
              </a:rPr>
              <a:t>in attribute order</a:t>
            </a:r>
          </a:p>
          <a:p>
            <a:pPr marL="36195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So a table can have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one clustered index</a:t>
            </a:r>
            <a:r>
              <a:rPr lang="en-GB" dirty="0">
                <a:latin typeface="Calibri" panose="020F0502020204030204" pitchFamily="34" charset="0"/>
              </a:rPr>
              <a:t>,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but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many 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nonclustered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 indexes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An index is composed of an ordered attribute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list with a memory address (shown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diagrammatically as a pointer) </a:t>
            </a:r>
            <a:r>
              <a:rPr lang="en-US" dirty="0">
                <a:latin typeface="Calibri" panose="020F0502020204030204" pitchFamily="34" charset="0"/>
              </a:rPr>
              <a:t>and allows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direct access to a particular record.</a:t>
            </a:r>
            <a:endParaRPr lang="en-GB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298609"/>
              </p:ext>
            </p:extLst>
          </p:nvPr>
        </p:nvGraphicFramePr>
        <p:xfrm>
          <a:off x="4499992" y="5018896"/>
          <a:ext cx="1368152" cy="16764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90557"/>
              </p:ext>
            </p:extLst>
          </p:nvPr>
        </p:nvGraphicFramePr>
        <p:xfrm>
          <a:off x="6444209" y="4653136"/>
          <a:ext cx="2592287" cy="201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27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latin typeface="Calibri" panose="020F0502020204030204" pitchFamily="34" charset="0"/>
                        </a:rPr>
                        <a:t>s_num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latin typeface="Calibri" panose="020F0502020204030204" pitchFamily="34" charset="0"/>
                        </a:rPr>
                        <a:t>s_name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latin typeface="Calibri" panose="020F0502020204030204" pitchFamily="34" charset="0"/>
                        </a:rPr>
                        <a:t>s_city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Clark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Ellis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Dublin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 bwMode="auto">
          <a:xfrm>
            <a:off x="5580112" y="5185094"/>
            <a:ext cx="86409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5580112" y="5526846"/>
            <a:ext cx="86409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5580112" y="5857096"/>
            <a:ext cx="86409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5580112" y="6193206"/>
            <a:ext cx="86409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5580112" y="6534958"/>
            <a:ext cx="86409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689761" y="3588701"/>
            <a:ext cx="4320480" cy="91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tabLst>
                <a:tab pos="542925" algn="l"/>
              </a:tabLst>
            </a:pPr>
            <a:r>
              <a:rPr lang="en-GB" dirty="0">
                <a:latin typeface="Calibri" panose="020F0502020204030204" pitchFamily="34" charset="0"/>
              </a:rPr>
              <a:t>Consider a relation</a:t>
            </a:r>
            <a:br>
              <a:rPr lang="en-GB" dirty="0">
                <a:latin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</a:rPr>
              <a:t>	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SUPPLIER (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s_num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, 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sname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, 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s_city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Tx/>
              <a:buNone/>
            </a:pPr>
            <a:r>
              <a:rPr lang="en-US" dirty="0">
                <a:latin typeface="Calibri" panose="020F0502020204030204" pitchFamily="34" charset="0"/>
              </a:rPr>
              <a:t>Supplier table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sorted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in </a:t>
            </a:r>
            <a:r>
              <a:rPr lang="en-US" dirty="0" err="1">
                <a:latin typeface="Calibri" panose="020F0502020204030204" pitchFamily="34" charset="0"/>
              </a:rPr>
              <a:t>s_num</a:t>
            </a:r>
            <a:r>
              <a:rPr lang="en-US" dirty="0">
                <a:latin typeface="Calibri" panose="020F0502020204030204" pitchFamily="34" charset="0"/>
              </a:rPr>
              <a:t> value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3988" y="4670999"/>
            <a:ext cx="1440160" cy="37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Index </a:t>
            </a:r>
            <a:r>
              <a:rPr lang="en-US" dirty="0" err="1">
                <a:latin typeface="Calibri" panose="020F0502020204030204" pitchFamily="34" charset="0"/>
              </a:rPr>
              <a:t>s_num</a:t>
            </a:r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86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Indexing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976351"/>
              </p:ext>
            </p:extLst>
          </p:nvPr>
        </p:nvGraphicFramePr>
        <p:xfrm>
          <a:off x="539551" y="2985571"/>
          <a:ext cx="1404157" cy="16764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00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Dublin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705008"/>
              </p:ext>
            </p:extLst>
          </p:nvPr>
        </p:nvGraphicFramePr>
        <p:xfrm>
          <a:off x="2771800" y="2650291"/>
          <a:ext cx="2592287" cy="201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27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latin typeface="Calibri" panose="020F0502020204030204" pitchFamily="34" charset="0"/>
                        </a:rPr>
                        <a:t>s_num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latin typeface="Calibri" panose="020F0502020204030204" pitchFamily="34" charset="0"/>
                        </a:rPr>
                        <a:t>s_name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latin typeface="Calibri" panose="020F0502020204030204" pitchFamily="34" charset="0"/>
                        </a:rPr>
                        <a:t>s_city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Clark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Ellis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Dublin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 bwMode="auto">
          <a:xfrm>
            <a:off x="1655677" y="3151769"/>
            <a:ext cx="1116123" cy="134986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1655677" y="3151769"/>
            <a:ext cx="1116123" cy="34175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>
            <a:off x="1655677" y="3823771"/>
            <a:ext cx="1116123" cy="33611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V="1">
            <a:off x="1655677" y="3493521"/>
            <a:ext cx="1116123" cy="66636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V="1">
            <a:off x="1655677" y="3823771"/>
            <a:ext cx="1116123" cy="67786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39553" y="2637674"/>
            <a:ext cx="1404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Index </a:t>
            </a:r>
            <a:r>
              <a:rPr lang="en-US" dirty="0" err="1">
                <a:latin typeface="Calibri" panose="020F0502020204030204" pitchFamily="34" charset="0"/>
              </a:rPr>
              <a:t>s_city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7504" y="715226"/>
            <a:ext cx="8928992" cy="1895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Using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SUPPLIER (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s_num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, 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sname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, 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s_city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)</a:t>
            </a:r>
            <a:r>
              <a:rPr lang="en-GB" dirty="0">
                <a:latin typeface="Calibri" panose="020F050202020403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Consider the query  ‘</a:t>
            </a:r>
            <a:r>
              <a:rPr lang="en-GB" b="1" i="1" dirty="0">
                <a:latin typeface="Calibri" panose="020F0502020204030204" pitchFamily="34" charset="0"/>
              </a:rPr>
              <a:t>Get all the suppliers in a certain city ( e.g. London)’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Two possible strategies:</a:t>
            </a:r>
          </a:p>
          <a:p>
            <a:pPr marL="361950" indent="-276225">
              <a:lnSpc>
                <a:spcPct val="9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</a:rPr>
              <a:t>Search the entire supplier file for records with city  </a:t>
            </a:r>
            <a:r>
              <a:rPr lang="en-GB" b="1" i="1" dirty="0">
                <a:latin typeface="Calibri" panose="020F0502020204030204" pitchFamily="34" charset="0"/>
              </a:rPr>
              <a:t>'London'</a:t>
            </a:r>
          </a:p>
          <a:p>
            <a:pPr marL="361950" indent="-276225">
              <a:lnSpc>
                <a:spcPct val="9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</a:rPr>
              <a:t>Create an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index</a:t>
            </a:r>
            <a:r>
              <a:rPr lang="en-GB" dirty="0">
                <a:latin typeface="Calibri" panose="020F0502020204030204" pitchFamily="34" charset="0"/>
              </a:rPr>
              <a:t> on cities, access it for </a:t>
            </a:r>
            <a:r>
              <a:rPr lang="en-GB" b="1" i="1" dirty="0">
                <a:latin typeface="Calibri" panose="020F0502020204030204" pitchFamily="34" charset="0"/>
              </a:rPr>
              <a:t>'London’</a:t>
            </a:r>
            <a:r>
              <a:rPr lang="en-GB" dirty="0">
                <a:latin typeface="Calibri" panose="020F0502020204030204" pitchFamily="34" charset="0"/>
              </a:rPr>
              <a:t> entries and follow the pointer to the corresponding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504" y="4782535"/>
            <a:ext cx="9036496" cy="199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Index Use:</a:t>
            </a:r>
          </a:p>
          <a:p>
            <a:pPr marL="361950" indent="-18097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Sequential Access </a:t>
            </a:r>
            <a:r>
              <a:rPr lang="en-GB" dirty="0">
                <a:latin typeface="Calibri" panose="020F0502020204030204" pitchFamily="34" charset="0"/>
              </a:rPr>
              <a:t>(using sequence of index records)</a:t>
            </a:r>
          </a:p>
          <a:p>
            <a:pPr marL="542925"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useful for range queries (</a:t>
            </a:r>
            <a:r>
              <a:rPr lang="en-GB" b="1" i="1" dirty="0">
                <a:latin typeface="Calibri" panose="020F0502020204030204" pitchFamily="34" charset="0"/>
              </a:rPr>
              <a:t>Get suppliers whose cities begin with L-R</a:t>
            </a:r>
            <a:r>
              <a:rPr lang="en-GB" dirty="0">
                <a:latin typeface="Calibri" panose="020F0502020204030204" pitchFamily="34" charset="0"/>
              </a:rPr>
              <a:t>)</a:t>
            </a:r>
          </a:p>
          <a:p>
            <a:pPr marL="361950" indent="-18097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Direct Access </a:t>
            </a:r>
            <a:r>
              <a:rPr lang="en-GB" dirty="0">
                <a:latin typeface="Calibri" panose="020F0502020204030204" pitchFamily="34" charset="0"/>
              </a:rPr>
              <a:t>(using single value of index record)</a:t>
            </a:r>
          </a:p>
          <a:p>
            <a:pPr marL="542925"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useful for list queries (</a:t>
            </a:r>
            <a:r>
              <a:rPr lang="en-GB" b="1" i="1" dirty="0">
                <a:latin typeface="Calibri" panose="020F0502020204030204" pitchFamily="34" charset="0"/>
              </a:rPr>
              <a:t>Get suppliers whose city is London</a:t>
            </a:r>
            <a:r>
              <a:rPr lang="en-GB" dirty="0">
                <a:latin typeface="Calibri" panose="020F0502020204030204" pitchFamily="34" charset="0"/>
              </a:rPr>
              <a:t>)</a:t>
            </a:r>
          </a:p>
          <a:p>
            <a:pPr marL="361950" indent="-180975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Existence tests </a:t>
            </a:r>
            <a:r>
              <a:rPr lang="en-GB" dirty="0">
                <a:latin typeface="Calibri" panose="020F0502020204030204" pitchFamily="34" charset="0"/>
              </a:rPr>
              <a:t>(using index access alone)</a:t>
            </a:r>
          </a:p>
          <a:p>
            <a:pPr marL="542925">
              <a:lnSpc>
                <a:spcPct val="90000"/>
              </a:lnSpc>
            </a:pPr>
            <a:r>
              <a:rPr lang="en-GB" dirty="0" err="1">
                <a:latin typeface="Calibri" panose="020F0502020204030204" pitchFamily="34" charset="0"/>
              </a:rPr>
              <a:t>Eg</a:t>
            </a:r>
            <a:r>
              <a:rPr lang="en-GB" dirty="0">
                <a:latin typeface="Calibri" panose="020F0502020204030204" pitchFamily="34" charset="0"/>
              </a:rPr>
              <a:t>. </a:t>
            </a:r>
            <a:r>
              <a:rPr lang="en-GB" b="1" i="1" dirty="0">
                <a:latin typeface="Calibri" panose="020F0502020204030204" pitchFamily="34" charset="0"/>
              </a:rPr>
              <a:t>Are there any suppliers in Dublin?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YES</a:t>
            </a:r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- if an entry for Dublin exists in the </a:t>
            </a:r>
            <a:r>
              <a:rPr lang="en-GB" dirty="0" err="1">
                <a:latin typeface="Calibri" panose="020F0502020204030204" pitchFamily="34" charset="0"/>
              </a:rPr>
              <a:t>s_city</a:t>
            </a:r>
            <a:r>
              <a:rPr lang="en-GB" dirty="0">
                <a:latin typeface="Calibri" panose="020F0502020204030204" pitchFamily="34" charset="0"/>
              </a:rPr>
              <a:t> index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80112" y="2886631"/>
            <a:ext cx="3456384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Indexes are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primary</a:t>
            </a:r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(on primary key) or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secondary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 (on another attribute)</a:t>
            </a:r>
          </a:p>
          <a:p>
            <a:pPr lvl="0"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Advantage: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speeds up retrieval (at expense of update)</a:t>
            </a:r>
          </a:p>
        </p:txBody>
      </p:sp>
    </p:spTree>
    <p:extLst>
      <p:ext uri="{BB962C8B-B14F-4D97-AF65-F5344CB8AC3E}">
        <p14:creationId xmlns:p14="http://schemas.microsoft.com/office/powerpoint/2010/main" val="217094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 uiExpand="1" build="p"/>
      <p:bldP spid="17" grpId="0" uiExpand="1" build="p"/>
      <p:bldP spid="1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Indexing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764704"/>
            <a:ext cx="8928992" cy="5253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1800" indent="-1701800"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Multiple Indexes:	</a:t>
            </a:r>
            <a:r>
              <a:rPr lang="en-GB" dirty="0">
                <a:latin typeface="Calibri" panose="020F0502020204030204" pitchFamily="34" charset="0"/>
              </a:rPr>
              <a:t>a file can have any number of indexes (e.g. on </a:t>
            </a:r>
            <a:r>
              <a:rPr lang="en-GB" dirty="0" err="1">
                <a:latin typeface="Calibri" panose="020F0502020204030204" pitchFamily="34" charset="0"/>
              </a:rPr>
              <a:t>s_num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b="1" dirty="0">
                <a:latin typeface="Calibri" panose="020F0502020204030204" pitchFamily="34" charset="0"/>
              </a:rPr>
              <a:t>and</a:t>
            </a:r>
            <a:r>
              <a:rPr lang="en-GB" dirty="0">
                <a:latin typeface="Calibri" panose="020F0502020204030204" pitchFamily="34" charset="0"/>
              </a:rPr>
              <a:t> on </a:t>
            </a:r>
            <a:r>
              <a:rPr lang="en-GB" dirty="0" err="1">
                <a:latin typeface="Calibri" panose="020F0502020204030204" pitchFamily="34" charset="0"/>
              </a:rPr>
              <a:t>s_city</a:t>
            </a:r>
            <a:r>
              <a:rPr lang="en-GB" dirty="0">
                <a:latin typeface="Calibri" panose="020F0502020204030204" pitchFamily="34" charset="0"/>
              </a:rPr>
              <a:t>)</a:t>
            </a:r>
          </a:p>
          <a:p>
            <a:pPr marL="170180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a file with an index on every field is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fully inverted</a:t>
            </a:r>
          </a:p>
          <a:p>
            <a:pPr marL="3136900" indent="-3136900"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Indexes on combined attributes:	</a:t>
            </a:r>
            <a:r>
              <a:rPr lang="en-GB" dirty="0">
                <a:latin typeface="Calibri" panose="020F0502020204030204" pitchFamily="34" charset="0"/>
              </a:rPr>
              <a:t>indexes can be constructed on two or more combined attributes (e.g. </a:t>
            </a:r>
            <a:r>
              <a:rPr lang="en-GB" dirty="0" err="1">
                <a:latin typeface="Calibri" panose="020F0502020204030204" pitchFamily="34" charset="0"/>
              </a:rPr>
              <a:t>s_name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b="1" dirty="0">
                <a:latin typeface="Calibri" panose="020F0502020204030204" pitchFamily="34" charset="0"/>
              </a:rPr>
              <a:t>and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s_city</a:t>
            </a:r>
            <a:r>
              <a:rPr lang="en-GB" dirty="0">
                <a:latin typeface="Calibri" panose="020F0502020204030204" pitchFamily="34" charset="0"/>
              </a:rPr>
              <a:t>)</a:t>
            </a:r>
          </a:p>
          <a:p>
            <a:pPr marL="2774950" indent="-2774950"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Dense vs. 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Nondense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 Indexes:</a:t>
            </a:r>
            <a:r>
              <a:rPr lang="en-GB" dirty="0">
                <a:latin typeface="Calibri" panose="020F0502020204030204" pitchFamily="34" charset="0"/>
              </a:rPr>
              <a:t>	</a:t>
            </a:r>
            <a:r>
              <a:rPr lang="en-GB" dirty="0" err="1">
                <a:latin typeface="Calibri" panose="020F0502020204030204" pitchFamily="34" charset="0"/>
              </a:rPr>
              <a:t>s_city</a:t>
            </a:r>
            <a:r>
              <a:rPr lang="en-GB" dirty="0">
                <a:latin typeface="Calibri" panose="020F0502020204030204" pitchFamily="34" charset="0"/>
              </a:rPr>
              <a:t> index is a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dense index </a:t>
            </a:r>
            <a:r>
              <a:rPr lang="en-GB" dirty="0">
                <a:latin typeface="Calibri" panose="020F0502020204030204" pitchFamily="34" charset="0"/>
              </a:rPr>
              <a:t>(all pointers are record pointers - they point to individual specific records), so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same number of index records as actual records</a:t>
            </a:r>
          </a:p>
          <a:p>
            <a:pPr marL="2774950" indent="-277495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	</a:t>
            </a:r>
            <a:r>
              <a:rPr lang="en-GB" b="1" dirty="0" err="1">
                <a:solidFill>
                  <a:srgbClr val="C00000"/>
                </a:solidFill>
                <a:latin typeface="Calibri" panose="020F0502020204030204" pitchFamily="34" charset="0"/>
              </a:rPr>
              <a:t>Nondense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 indexes </a:t>
            </a:r>
            <a:r>
              <a:rPr lang="en-GB" dirty="0">
                <a:latin typeface="Calibri" panose="020F0502020204030204" pitchFamily="34" charset="0"/>
              </a:rPr>
              <a:t>use page pointers instead of record pointers and do not contain an index entry for every record,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so less index records than actual records</a:t>
            </a:r>
          </a:p>
          <a:p>
            <a:pPr marL="1520825" indent="-1520825"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Append/Insert:</a:t>
            </a:r>
            <a:r>
              <a:rPr lang="en-GB" dirty="0">
                <a:latin typeface="Calibri" panose="020F0502020204030204" pitchFamily="34" charset="0"/>
              </a:rPr>
              <a:t>	when a new record is added to a table a new entry must be made in the index at the correct position and the record memory address added (for each index on that table)</a:t>
            </a:r>
          </a:p>
          <a:p>
            <a:pPr marL="808038" indent="-808038"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Delete:</a:t>
            </a:r>
            <a:r>
              <a:rPr lang="en-GB" dirty="0">
                <a:latin typeface="Calibri" panose="020F0502020204030204" pitchFamily="34" charset="0"/>
              </a:rPr>
              <a:t>	when an existing record is deleted the corresponding index record with memory address must also be deleted (for each index on that table)</a:t>
            </a:r>
          </a:p>
          <a:p>
            <a:pPr marL="1339850" indent="-1339850"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Update/Edit:</a:t>
            </a:r>
            <a:r>
              <a:rPr lang="en-GB" dirty="0">
                <a:latin typeface="Calibri" panose="020F0502020204030204" pitchFamily="34" charset="0"/>
              </a:rPr>
              <a:t>	if the attribute on which the table is indexed is changed, the index entry may have to be moved to the correct position in that index.</a:t>
            </a:r>
          </a:p>
        </p:txBody>
      </p:sp>
    </p:spTree>
    <p:extLst>
      <p:ext uri="{BB962C8B-B14F-4D97-AF65-F5344CB8AC3E}">
        <p14:creationId xmlns:p14="http://schemas.microsoft.com/office/powerpoint/2010/main" val="160259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Indexing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745100"/>
              </p:ext>
            </p:extLst>
          </p:nvPr>
        </p:nvGraphicFramePr>
        <p:xfrm>
          <a:off x="1115615" y="1624686"/>
          <a:ext cx="1404157" cy="100584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00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339722"/>
              </p:ext>
            </p:extLst>
          </p:nvPr>
        </p:nvGraphicFramePr>
        <p:xfrm>
          <a:off x="3347864" y="1289406"/>
          <a:ext cx="2592287" cy="16764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Clark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72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Ellis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</a:rPr>
                        <a:t>Dublin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 bwMode="auto">
          <a:xfrm flipV="1">
            <a:off x="2231741" y="1437475"/>
            <a:ext cx="972107" cy="353409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2231741" y="2100049"/>
            <a:ext cx="972107" cy="3258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>
            <a:off x="2231741" y="2462886"/>
            <a:ext cx="972107" cy="306288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lg"/>
          </a:ln>
          <a:effectLst/>
        </p:spPr>
      </p:cxnSp>
      <p:sp>
        <p:nvSpPr>
          <p:cNvPr id="11" name="Rectangle 10"/>
          <p:cNvSpPr/>
          <p:nvPr/>
        </p:nvSpPr>
        <p:spPr bwMode="auto">
          <a:xfrm>
            <a:off x="3203849" y="1289406"/>
            <a:ext cx="2880319" cy="63469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203848" y="1951980"/>
            <a:ext cx="2880319" cy="63469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3203849" y="2621105"/>
            <a:ext cx="2880319" cy="63469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3896" y="1437475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</a:rPr>
              <a:t>Page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3896" y="2100049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</a:rPr>
              <a:t>Page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3896" y="2769174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</a:rPr>
              <a:t>Page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504" y="715226"/>
            <a:ext cx="8928992" cy="4588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</a:rPr>
              <a:t>Example of </a:t>
            </a:r>
            <a:r>
              <a:rPr lang="en-GB" dirty="0" err="1">
                <a:latin typeface="Calibri" panose="020F0502020204030204" pitchFamily="34" charset="0"/>
              </a:rPr>
              <a:t>nondense</a:t>
            </a:r>
            <a:r>
              <a:rPr lang="en-GB" dirty="0">
                <a:latin typeface="Calibri" panose="020F0502020204030204" pitchFamily="34" charset="0"/>
              </a:rPr>
              <a:t> (sparse) index on </a:t>
            </a:r>
            <a:r>
              <a:rPr lang="en-GB" b="1" dirty="0" err="1">
                <a:solidFill>
                  <a:srgbClr val="0070C0"/>
                </a:solidFill>
                <a:latin typeface="Calibri" panose="020F0502020204030204" pitchFamily="34" charset="0"/>
              </a:rPr>
              <a:t>s_num</a:t>
            </a:r>
            <a:endParaRPr lang="en-GB" b="1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19800"/>
              </a:spcBef>
            </a:pPr>
            <a:r>
              <a:rPr lang="en-GB" dirty="0">
                <a:latin typeface="Calibri" panose="020F0502020204030204" pitchFamily="34" charset="0"/>
              </a:rPr>
              <a:t>Retrieved pages are searched to find required records (unlike dense indexes)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Advantage:</a:t>
            </a:r>
            <a:r>
              <a:rPr lang="en-GB" dirty="0">
                <a:latin typeface="Calibri" panose="020F0502020204030204" pitchFamily="34" charset="0"/>
              </a:rPr>
              <a:t> occupies less space than dense index and quicker to scan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Disadvantage:</a:t>
            </a:r>
            <a:r>
              <a:rPr lang="en-GB" dirty="0">
                <a:latin typeface="Calibri" panose="020F0502020204030204" pitchFamily="34" charset="0"/>
              </a:rPr>
              <a:t> existence tests cannot be performed on the index alone 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 stored file can have at most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one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</a:rPr>
              <a:t>nondense</a:t>
            </a:r>
            <a:r>
              <a:rPr lang="en-GB" dirty="0">
                <a:latin typeface="Calibri" panose="020F0502020204030204" pitchFamily="34" charset="0"/>
              </a:rPr>
              <a:t> index (depends on the  unique physical sequence of the file). All other indexes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must be dense</a:t>
            </a:r>
            <a:r>
              <a:rPr lang="en-GB" dirty="0"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114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Indexed Sequential Access Method (ISAM)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728703"/>
            <a:ext cx="8928992" cy="464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Records are physically stored in sorted in order</a:t>
            </a:r>
          </a:p>
          <a:p>
            <a:pPr marL="36195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allows quick sequential processing of all records (e.g. for payroll processing)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A (dense) index is built (normally on primary key)</a:t>
            </a:r>
          </a:p>
          <a:p>
            <a:pPr marL="36195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allows direct access via the index</a:t>
            </a:r>
          </a:p>
          <a:p>
            <a:pPr marL="36195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direct access not as efficient as for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hashing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Usage</a:t>
            </a:r>
          </a:p>
          <a:p>
            <a:pPr marL="36195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good for key fields</a:t>
            </a:r>
          </a:p>
          <a:p>
            <a:pPr marL="361950"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good for files requiring sequential processing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Microsoft ACCESS uses ISAM as its main storage mechanism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 err="1">
                <a:latin typeface="Calibri" panose="020F0502020204030204" pitchFamily="34" charset="0"/>
              </a:rPr>
              <a:t>MyISAM</a:t>
            </a:r>
            <a:r>
              <a:rPr lang="en-GB" dirty="0">
                <a:latin typeface="Calibri" panose="020F0502020204030204" pitchFamily="34" charset="0"/>
              </a:rPr>
              <a:t> storage engine is available in MySQL (instead of </a:t>
            </a:r>
            <a:r>
              <a:rPr lang="en-GB" dirty="0" err="1">
                <a:latin typeface="Calibri" panose="020F0502020204030204" pitchFamily="34" charset="0"/>
              </a:rPr>
              <a:t>innobD</a:t>
            </a:r>
            <a:r>
              <a:rPr lang="en-GB" dirty="0">
                <a:latin typeface="Calibri" panose="020F0502020204030204" pitchFamily="34" charset="0"/>
              </a:rPr>
              <a:t> or Memory)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Index overflow occurs because the space allocated for the index may be exceeded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An improved approach which prevents index overflow is known as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VSAM</a:t>
            </a:r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(Virtual Sequential Access Method)</a:t>
            </a:r>
          </a:p>
        </p:txBody>
      </p:sp>
    </p:spTree>
    <p:extLst>
      <p:ext uri="{BB962C8B-B14F-4D97-AF65-F5344CB8AC3E}">
        <p14:creationId xmlns:p14="http://schemas.microsoft.com/office/powerpoint/2010/main" val="365459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B-Trees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715226"/>
            <a:ext cx="8928992" cy="2625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dirty="0">
                <a:latin typeface="Calibri" panose="020F0502020204030204" pitchFamily="34" charset="0"/>
              </a:rPr>
              <a:t>B-Trees are the best all round way to organise indexes (supported by large DBMSs)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Effectively, the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index is indexed</a:t>
            </a:r>
            <a:r>
              <a:rPr lang="en-GB" dirty="0">
                <a:latin typeface="Calibri" panose="020F0502020204030204" pitchFamily="34" charset="0"/>
              </a:rPr>
              <a:t> (using a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multi-level, non-dense </a:t>
            </a:r>
            <a:r>
              <a:rPr lang="en-GB" dirty="0">
                <a:latin typeface="Calibri" panose="020F0502020204030204" pitchFamily="34" charset="0"/>
              </a:rPr>
              <a:t>index 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 binary (or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n-</a:t>
            </a:r>
            <a:r>
              <a:rPr lang="en-GB" b="1" dirty="0" err="1">
                <a:solidFill>
                  <a:srgbClr val="C00000"/>
                </a:solidFill>
                <a:latin typeface="Calibri" panose="020F0502020204030204" pitchFamily="34" charset="0"/>
              </a:rPr>
              <a:t>ary</a:t>
            </a:r>
            <a:r>
              <a:rPr lang="en-GB" dirty="0">
                <a:latin typeface="Calibri" panose="020F0502020204030204" pitchFamily="34" charset="0"/>
              </a:rPr>
              <a:t>) access to the records is implemented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Principle: </a:t>
            </a:r>
          </a:p>
          <a:p>
            <a:pPr marL="2857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indexing removes need for scanning entire file but for large files scanning the large index is a problem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Index can be treated as a file and indexed. This is continued with each level being a non-dense index to the level below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512" y="5924560"/>
            <a:ext cx="5256584" cy="66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Sequence set: </a:t>
            </a:r>
            <a:r>
              <a:rPr lang="en-GB" dirty="0">
                <a:latin typeface="Calibri" panose="020F0502020204030204" pitchFamily="34" charset="0"/>
              </a:rPr>
              <a:t>a single level dense index to the data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provides fast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sequential</a:t>
            </a:r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access to the indexed data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7505" y="3419475"/>
            <a:ext cx="5040559" cy="2505085"/>
            <a:chOff x="107505" y="3419475"/>
            <a:chExt cx="5040559" cy="250508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05" y="3419475"/>
              <a:ext cx="5040559" cy="2197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2050222" y="5616783"/>
              <a:ext cx="115512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latin typeface="Calibri" panose="020F0502020204030204" pitchFamily="34" charset="0"/>
                </a:rPr>
                <a:t>Sequence set</a:t>
              </a:r>
              <a:endParaRPr lang="en-GB" sz="1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79512" y="3501008"/>
              <a:ext cx="8446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latin typeface="Calibri" panose="020F0502020204030204" pitchFamily="34" charset="0"/>
                </a:rPr>
                <a:t>Index set</a:t>
              </a:r>
              <a:endParaRPr lang="en-GB" sz="1400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4464496" y="3225548"/>
            <a:ext cx="4572000" cy="116647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28700" indent="-1028700">
              <a:lnSpc>
                <a:spcPct val="90000"/>
              </a:lnSpc>
              <a:spcBef>
                <a:spcPts val="600"/>
              </a:spcBef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Index set:	</a:t>
            </a:r>
            <a:r>
              <a:rPr lang="en-GB" dirty="0">
                <a:latin typeface="Calibri" panose="020F0502020204030204" pitchFamily="34" charset="0"/>
              </a:rPr>
              <a:t>a tree-structure index to the sequence set</a:t>
            </a:r>
          </a:p>
          <a:p>
            <a:pPr marL="6286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provides fast direct access to the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sequence set </a:t>
            </a:r>
            <a:r>
              <a:rPr lang="en-GB" dirty="0">
                <a:latin typeface="Calibri" panose="020F0502020204030204" pitchFamily="34" charset="0"/>
              </a:rPr>
              <a:t>and hence to the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36096" y="5016618"/>
            <a:ext cx="36004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</a:rPr>
              <a:t>potential problem of B-trees is that due to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insertion/deletion</a:t>
            </a:r>
            <a:r>
              <a:rPr lang="en-US" dirty="0">
                <a:latin typeface="Calibri" panose="020F0502020204030204" pitchFamily="34" charset="0"/>
              </a:rPr>
              <a:t> the tree may become unbalanced which requires algorithm designed to '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balance</a:t>
            </a:r>
            <a:r>
              <a:rPr lang="en-US" dirty="0">
                <a:latin typeface="Calibri" panose="020F0502020204030204" pitchFamily="34" charset="0"/>
              </a:rPr>
              <a:t>’ the tree</a:t>
            </a:r>
          </a:p>
        </p:txBody>
      </p:sp>
    </p:spTree>
    <p:extLst>
      <p:ext uri="{BB962C8B-B14F-4D97-AF65-F5344CB8AC3E}">
        <p14:creationId xmlns:p14="http://schemas.microsoft.com/office/powerpoint/2010/main" val="391640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B-Trees – Terminology and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715226"/>
            <a:ext cx="8928992" cy="642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 Tree consists of a series of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nodes</a:t>
            </a:r>
            <a:r>
              <a:rPr lang="en-GB" dirty="0">
                <a:latin typeface="Calibri" panose="020F0502020204030204" pitchFamily="34" charset="0"/>
              </a:rPr>
              <a:t>, each (except the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root</a:t>
            </a:r>
            <a:r>
              <a:rPr lang="en-GB" dirty="0">
                <a:latin typeface="Calibri" panose="020F0502020204030204" pitchFamily="34" charset="0"/>
              </a:rPr>
              <a:t>) having one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parent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node and a number of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child</a:t>
            </a:r>
            <a:r>
              <a:rPr lang="en-GB" dirty="0">
                <a:latin typeface="Calibri" panose="020F0502020204030204" pitchFamily="34" charset="0"/>
              </a:rPr>
              <a:t> nodes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 root having no children is called a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leaf node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Depth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of a tree is the maximum number of nodes between the root and a leaf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If the depth is uniform across all paths the tree is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balanced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The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degree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or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</a:rPr>
              <a:t>order</a:t>
            </a:r>
            <a:r>
              <a:rPr lang="en-GB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</a:rPr>
              <a:t>of a tree is the maximum number of children allowed per parent (2 in this case)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Access time is proportional to the tree depth, so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shallow bushy trees are best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If the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root</a:t>
            </a:r>
            <a:r>
              <a:rPr lang="en-GB" dirty="0">
                <a:latin typeface="Calibri" panose="020F0502020204030204" pitchFamily="34" charset="0"/>
              </a:rPr>
              <a:t> is not a leaf node, it must </a:t>
            </a: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have at least two children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For a tree of order </a:t>
            </a:r>
            <a:r>
              <a:rPr lang="en-GB" i="1" dirty="0">
                <a:latin typeface="Calibri" panose="020F0502020204030204" pitchFamily="34" charset="0"/>
              </a:rPr>
              <a:t>n</a:t>
            </a:r>
            <a:r>
              <a:rPr lang="en-GB" dirty="0">
                <a:latin typeface="Calibri" panose="020F0502020204030204" pitchFamily="34" charset="0"/>
              </a:rPr>
              <a:t>,</a:t>
            </a:r>
          </a:p>
          <a:p>
            <a:pPr marL="2857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each node (except root or leaf nodes) must have between </a:t>
            </a:r>
            <a:r>
              <a:rPr lang="en-GB" i="1" dirty="0">
                <a:latin typeface="Calibri" panose="020F0502020204030204" pitchFamily="34" charset="0"/>
              </a:rPr>
              <a:t>n/2</a:t>
            </a:r>
            <a:r>
              <a:rPr lang="en-GB" dirty="0">
                <a:latin typeface="Calibri" panose="020F0502020204030204" pitchFamily="34" charset="0"/>
              </a:rPr>
              <a:t> and </a:t>
            </a:r>
            <a:r>
              <a:rPr lang="en-GB" i="1" dirty="0">
                <a:latin typeface="Calibri" panose="020F0502020204030204" pitchFamily="34" charset="0"/>
              </a:rPr>
              <a:t>n</a:t>
            </a:r>
            <a:r>
              <a:rPr lang="en-GB" dirty="0">
                <a:latin typeface="Calibri" panose="020F0502020204030204" pitchFamily="34" charset="0"/>
              </a:rPr>
              <a:t> pointers and children. (If </a:t>
            </a:r>
            <a:r>
              <a:rPr lang="en-GB" i="1" dirty="0">
                <a:latin typeface="Calibri" panose="020F0502020204030204" pitchFamily="34" charset="0"/>
              </a:rPr>
              <a:t>n/2</a:t>
            </a:r>
            <a:r>
              <a:rPr lang="en-GB" dirty="0">
                <a:latin typeface="Calibri" panose="020F0502020204030204" pitchFamily="34" charset="0"/>
              </a:rPr>
              <a:t> is not an integer, the result is rounded up)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the number of key values in the leaf node must be between </a:t>
            </a:r>
            <a:r>
              <a:rPr lang="en-GB" i="1" dirty="0">
                <a:latin typeface="Calibri" panose="020F0502020204030204" pitchFamily="34" charset="0"/>
              </a:rPr>
              <a:t>(n-1)/2</a:t>
            </a:r>
            <a:r>
              <a:rPr lang="en-GB" dirty="0">
                <a:latin typeface="Calibri" panose="020F0502020204030204" pitchFamily="34" charset="0"/>
              </a:rPr>
              <a:t> and </a:t>
            </a:r>
            <a:r>
              <a:rPr lang="en-GB" i="1" dirty="0">
                <a:latin typeface="Calibri" panose="020F0502020204030204" pitchFamily="34" charset="0"/>
              </a:rPr>
              <a:t>(n-1)</a:t>
            </a:r>
            <a:r>
              <a:rPr lang="en-GB" dirty="0">
                <a:latin typeface="Calibri" panose="020F0502020204030204" pitchFamily="34" charset="0"/>
              </a:rPr>
              <a:t>. (If </a:t>
            </a:r>
            <a:r>
              <a:rPr lang="en-GB" i="1" dirty="0">
                <a:latin typeface="Calibri" panose="020F0502020204030204" pitchFamily="34" charset="0"/>
              </a:rPr>
              <a:t>(n-1)/2 </a:t>
            </a:r>
            <a:r>
              <a:rPr lang="en-GB" dirty="0">
                <a:latin typeface="Calibri" panose="020F0502020204030204" pitchFamily="34" charset="0"/>
              </a:rPr>
              <a:t>is not an integer, the result is rounded up)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The number of key values contained in a non-leaf node is 1 less than the number of pointers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0070C0"/>
                </a:solidFill>
                <a:latin typeface="Calibri" panose="020F0502020204030204" pitchFamily="34" charset="0"/>
              </a:rPr>
              <a:t>The tree must always be balanced</a:t>
            </a:r>
            <a:r>
              <a:rPr lang="en-GB" dirty="0">
                <a:latin typeface="Calibri" panose="020F0502020204030204" pitchFamily="34" charset="0"/>
              </a:rPr>
              <a:t>; that is, every path from the root node to a leaf node must have the same length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</a:rPr>
              <a:t>Leaf nodes are linked in order of key values</a:t>
            </a:r>
          </a:p>
        </p:txBody>
      </p:sp>
    </p:spTree>
    <p:extLst>
      <p:ext uri="{BB962C8B-B14F-4D97-AF65-F5344CB8AC3E}">
        <p14:creationId xmlns:p14="http://schemas.microsoft.com/office/powerpoint/2010/main" val="284125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B-Trees –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715226"/>
            <a:ext cx="8928992" cy="3813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/>
              <a:t>B-Trees require complex maintenance since they </a:t>
            </a:r>
            <a:r>
              <a:rPr lang="en-GB" b="1" dirty="0">
                <a:solidFill>
                  <a:srgbClr val="C00000"/>
                </a:solidFill>
              </a:rPr>
              <a:t>must remain balanced </a:t>
            </a:r>
            <a:r>
              <a:rPr lang="en-GB" dirty="0"/>
              <a:t>to be efficient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b="1" dirty="0">
                <a:solidFill>
                  <a:srgbClr val="C00000"/>
                </a:solidFill>
              </a:rPr>
              <a:t>Insertion and Deletion </a:t>
            </a:r>
            <a:r>
              <a:rPr lang="en-GB" dirty="0"/>
              <a:t>may </a:t>
            </a:r>
            <a:r>
              <a:rPr lang="en-GB" b="1" dirty="0">
                <a:solidFill>
                  <a:srgbClr val="0070C0"/>
                </a:solidFill>
              </a:rPr>
              <a:t>unbalance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/>
              <a:t>the tree (change the depth along some pathways) and hence rebalancing must be performed - </a:t>
            </a:r>
            <a:r>
              <a:rPr lang="en-GB" b="1" dirty="0">
                <a:solidFill>
                  <a:srgbClr val="C00000"/>
                </a:solidFill>
              </a:rPr>
              <a:t>expensive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/>
              <a:t>The overhead of performing this is </a:t>
            </a:r>
            <a:r>
              <a:rPr lang="en-GB" b="1" dirty="0">
                <a:solidFill>
                  <a:srgbClr val="0070C0"/>
                </a:solidFill>
              </a:rPr>
              <a:t>traded off </a:t>
            </a:r>
            <a:r>
              <a:rPr lang="en-GB" dirty="0"/>
              <a:t>against the efficiency of access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/>
              <a:t>B-Trees work best for large dynamic (high update rate) tables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dirty="0"/>
              <a:t>Although indexes are intended to enhance a database's performance, there are times when they should be avoided: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Indexes should not be used on </a:t>
            </a:r>
            <a:r>
              <a:rPr lang="en-GB" b="1" dirty="0">
                <a:solidFill>
                  <a:srgbClr val="0070C0"/>
                </a:solidFill>
              </a:rPr>
              <a:t>small tables</a:t>
            </a:r>
            <a:r>
              <a:rPr lang="en-GB" dirty="0"/>
              <a:t>.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Tables that have frequent, large batch </a:t>
            </a:r>
            <a:r>
              <a:rPr lang="en-GB" b="1" dirty="0">
                <a:solidFill>
                  <a:srgbClr val="C00000"/>
                </a:solidFill>
              </a:rPr>
              <a:t>delete or insert </a:t>
            </a:r>
            <a:r>
              <a:rPr lang="en-GB" dirty="0"/>
              <a:t>operations.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Indexes should not be used on columns that contain a high number of </a:t>
            </a:r>
            <a:r>
              <a:rPr lang="en-GB" b="1" dirty="0">
                <a:solidFill>
                  <a:srgbClr val="0070C0"/>
                </a:solidFill>
              </a:rPr>
              <a:t>NULL</a:t>
            </a:r>
            <a:r>
              <a:rPr lang="en-GB" dirty="0"/>
              <a:t> values.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Columns that are frequently manipulated should not be indexed.</a:t>
            </a:r>
          </a:p>
        </p:txBody>
      </p:sp>
    </p:spTree>
    <p:extLst>
      <p:ext uri="{BB962C8B-B14F-4D97-AF65-F5344CB8AC3E}">
        <p14:creationId xmlns:p14="http://schemas.microsoft.com/office/powerpoint/2010/main" val="362384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Hashing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715226"/>
            <a:ext cx="8928992" cy="594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Hashing provides </a:t>
            </a:r>
            <a:r>
              <a:rPr lang="en-US" b="1" dirty="0">
                <a:solidFill>
                  <a:srgbClr val="C00000"/>
                </a:solidFill>
              </a:rPr>
              <a:t>fast direct access </a:t>
            </a:r>
            <a:r>
              <a:rPr lang="en-US" dirty="0"/>
              <a:t>to a specific stored record on the basis of </a:t>
            </a:r>
            <a:r>
              <a:rPr lang="en-US" b="1" dirty="0">
                <a:solidFill>
                  <a:srgbClr val="0070C0"/>
                </a:solidFill>
              </a:rPr>
              <a:t>attribute value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Each record stored at page location whose address is </a:t>
            </a:r>
            <a:r>
              <a:rPr lang="en-US" b="1" dirty="0">
                <a:solidFill>
                  <a:srgbClr val="C00000"/>
                </a:solidFill>
              </a:rPr>
              <a:t>computed as some function of record attribute value – </a:t>
            </a:r>
            <a:r>
              <a:rPr lang="en-US" b="1" dirty="0">
                <a:solidFill>
                  <a:srgbClr val="0070C0"/>
                </a:solidFill>
              </a:rPr>
              <a:t>Hash Function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Record is </a:t>
            </a:r>
            <a:r>
              <a:rPr lang="en-US" b="1" dirty="0">
                <a:solidFill>
                  <a:srgbClr val="C00000"/>
                </a:solidFill>
              </a:rPr>
              <a:t>retrieved by recalculating page location </a:t>
            </a:r>
            <a:r>
              <a:rPr lang="en-US" dirty="0"/>
              <a:t>and retrieving the record from the computed position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Records in a hash file will appear to be </a:t>
            </a:r>
            <a:r>
              <a:rPr lang="en-US" b="1" dirty="0">
                <a:solidFill>
                  <a:srgbClr val="0070C0"/>
                </a:solidFill>
              </a:rPr>
              <a:t>randomly distributed </a:t>
            </a:r>
            <a:r>
              <a:rPr lang="en-US" dirty="0"/>
              <a:t>across the available file space – also called </a:t>
            </a:r>
            <a:r>
              <a:rPr lang="en-US" b="1" dirty="0">
                <a:solidFill>
                  <a:srgbClr val="0070C0"/>
                </a:solidFill>
              </a:rPr>
              <a:t>random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0070C0"/>
                </a:solidFill>
              </a:rPr>
              <a:t>direct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files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Various </a:t>
            </a:r>
            <a:r>
              <a:rPr lang="en-US" b="1" dirty="0">
                <a:solidFill>
                  <a:srgbClr val="0070C0"/>
                </a:solidFill>
              </a:rPr>
              <a:t>hashing techniques </a:t>
            </a:r>
            <a:r>
              <a:rPr lang="en-US" dirty="0"/>
              <a:t>are used, but the hash function is chosen so that records are as </a:t>
            </a:r>
            <a:r>
              <a:rPr lang="en-US" b="1" dirty="0">
                <a:solidFill>
                  <a:srgbClr val="C00000"/>
                </a:solidFill>
              </a:rPr>
              <a:t>evenly distributed </a:t>
            </a:r>
            <a:r>
              <a:rPr lang="en-US" dirty="0"/>
              <a:t>as possible throughout the file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Division-Remainder</a:t>
            </a:r>
            <a:r>
              <a:rPr lang="en-US" dirty="0"/>
              <a:t> hash function is</a:t>
            </a:r>
            <a:br>
              <a:rPr lang="en-US" dirty="0"/>
            </a:br>
            <a:r>
              <a:rPr lang="en-US" dirty="0"/>
              <a:t>often used: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Chose the attribute to be used as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hash field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For each record, </a:t>
            </a:r>
            <a:r>
              <a:rPr lang="en-US" b="1" dirty="0">
                <a:solidFill>
                  <a:srgbClr val="0070C0"/>
                </a:solidFill>
              </a:rPr>
              <a:t>convert the field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value to an integer </a:t>
            </a:r>
            <a:r>
              <a:rPr lang="en-US" dirty="0"/>
              <a:t>and use the</a:t>
            </a:r>
            <a:br>
              <a:rPr lang="en-US" dirty="0"/>
            </a:br>
            <a:r>
              <a:rPr lang="en-US" b="1" dirty="0">
                <a:solidFill>
                  <a:srgbClr val="C00000"/>
                </a:solidFill>
              </a:rPr>
              <a:t>MOD function </a:t>
            </a:r>
            <a:r>
              <a:rPr lang="en-US" dirty="0"/>
              <a:t>to generate the page</a:t>
            </a:r>
            <a:br>
              <a:rPr lang="en-US" dirty="0"/>
            </a:br>
            <a:r>
              <a:rPr lang="en-US" dirty="0"/>
              <a:t>address</a:t>
            </a:r>
          </a:p>
          <a:p>
            <a:pPr marL="45720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ie</a:t>
            </a:r>
            <a:r>
              <a:rPr lang="en-US" dirty="0"/>
              <a:t>, divide the hash field value by</a:t>
            </a:r>
            <a:br>
              <a:rPr lang="en-US" dirty="0"/>
            </a:br>
            <a:r>
              <a:rPr lang="en-US" dirty="0"/>
              <a:t>some </a:t>
            </a:r>
            <a:r>
              <a:rPr lang="en-US" b="1" dirty="0">
                <a:solidFill>
                  <a:srgbClr val="0070C0"/>
                </a:solidFill>
              </a:rPr>
              <a:t>predetermined integer</a:t>
            </a:r>
            <a:br>
              <a:rPr lang="en-US" dirty="0"/>
            </a:br>
            <a:r>
              <a:rPr lang="en-US" dirty="0"/>
              <a:t>and use the </a:t>
            </a:r>
            <a:r>
              <a:rPr lang="en-US" b="1" dirty="0">
                <a:solidFill>
                  <a:srgbClr val="0070C0"/>
                </a:solidFill>
              </a:rPr>
              <a:t>remainder</a:t>
            </a:r>
            <a:r>
              <a:rPr lang="en-US" dirty="0"/>
              <a:t> as</a:t>
            </a:r>
            <a:br>
              <a:rPr lang="en-US" dirty="0"/>
            </a:br>
            <a:r>
              <a:rPr lang="en-US" dirty="0"/>
              <a:t>the page address.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3982108" y="4583628"/>
            <a:ext cx="5041093" cy="2160240"/>
            <a:chOff x="1691680" y="5877272"/>
            <a:chExt cx="5041093" cy="2160240"/>
          </a:xfrm>
        </p:grpSpPr>
        <p:grpSp>
          <p:nvGrpSpPr>
            <p:cNvPr id="10" name="Group 9"/>
            <p:cNvGrpSpPr/>
            <p:nvPr/>
          </p:nvGrpSpPr>
          <p:grpSpPr>
            <a:xfrm>
              <a:off x="2411760" y="6954663"/>
              <a:ext cx="720080" cy="1080120"/>
              <a:chOff x="539552" y="4581128"/>
              <a:chExt cx="720080" cy="108012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8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1693143" y="6957392"/>
              <a:ext cx="720080" cy="1080120"/>
              <a:chOff x="539552" y="4581128"/>
              <a:chExt cx="720080" cy="108012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7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6012160" y="5877272"/>
              <a:ext cx="720080" cy="1080120"/>
              <a:chOff x="539552" y="4581128"/>
              <a:chExt cx="720080" cy="108012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6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691680" y="5877272"/>
              <a:ext cx="720080" cy="1080120"/>
              <a:chOff x="539552" y="4581128"/>
              <a:chExt cx="720080" cy="108012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0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5292080" y="5877272"/>
              <a:ext cx="720080" cy="1080120"/>
              <a:chOff x="539552" y="4581128"/>
              <a:chExt cx="720080" cy="108012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5</a:t>
                </a: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572000" y="5877272"/>
              <a:ext cx="720080" cy="1080120"/>
              <a:chOff x="539552" y="4581128"/>
              <a:chExt cx="720080" cy="108012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4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3851920" y="5877272"/>
              <a:ext cx="720080" cy="1080120"/>
              <a:chOff x="539552" y="4581128"/>
              <a:chExt cx="720080" cy="108012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3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3131840" y="5877272"/>
              <a:ext cx="720080" cy="1080120"/>
              <a:chOff x="539552" y="4581128"/>
              <a:chExt cx="720080" cy="108012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2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2411760" y="5877272"/>
              <a:ext cx="720080" cy="1080120"/>
              <a:chOff x="539552" y="4581128"/>
              <a:chExt cx="720080" cy="108012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1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3131840" y="6957392"/>
              <a:ext cx="720080" cy="1080120"/>
              <a:chOff x="539552" y="4581128"/>
              <a:chExt cx="720080" cy="1080120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9</a:t>
                </a: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851920" y="6957392"/>
              <a:ext cx="720080" cy="1080120"/>
              <a:chOff x="539552" y="4581128"/>
              <a:chExt cx="720080" cy="1080120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10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4572000" y="6954663"/>
              <a:ext cx="720080" cy="1080120"/>
              <a:chOff x="539552" y="4581128"/>
              <a:chExt cx="720080" cy="1080120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11</a:t>
                </a: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5292080" y="6954663"/>
              <a:ext cx="720080" cy="1080120"/>
              <a:chOff x="539552" y="4581128"/>
              <a:chExt cx="720080" cy="1080120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539552" y="4581128"/>
                <a:ext cx="720080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539552" y="4581128"/>
                <a:ext cx="7200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</a:rPr>
                  <a:t>Page 12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3133303" y="7605464"/>
              <a:ext cx="720080" cy="276999"/>
              <a:chOff x="7524328" y="6015771"/>
              <a:chExt cx="720080" cy="276999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752432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C00000"/>
                    </a:solidFill>
                  </a:rPr>
                  <a:t>22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788436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GB"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5292613" y="6154271"/>
              <a:ext cx="720080" cy="276999"/>
              <a:chOff x="7524328" y="6015771"/>
              <a:chExt cx="720080" cy="276999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752432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C00000"/>
                    </a:solidFill>
                  </a:rPr>
                  <a:t>31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8436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GB"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2413223" y="6278832"/>
              <a:ext cx="720080" cy="276999"/>
              <a:chOff x="7524328" y="6015771"/>
              <a:chExt cx="720080" cy="276999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752432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C00000"/>
                    </a:solidFill>
                  </a:rPr>
                  <a:t>40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88436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GB"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3851920" y="7220453"/>
              <a:ext cx="720080" cy="276999"/>
              <a:chOff x="7524328" y="6015771"/>
              <a:chExt cx="720080" cy="276999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752432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C00000"/>
                    </a:solidFill>
                  </a:rPr>
                  <a:t>49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788436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GB"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6012693" y="6460190"/>
              <a:ext cx="720080" cy="276999"/>
              <a:chOff x="7524328" y="6015771"/>
              <a:chExt cx="720080" cy="276999"/>
            </a:xfrm>
          </p:grpSpPr>
          <p:sp>
            <p:nvSpPr>
              <p:cNvPr id="60" name="TextBox 59"/>
              <p:cNvSpPr txBox="1"/>
              <p:nvPr/>
            </p:nvSpPr>
            <p:spPr>
              <a:xfrm>
                <a:off x="752432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C00000"/>
                    </a:solidFill>
                  </a:rPr>
                  <a:t>58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7884368" y="6015771"/>
                <a:ext cx="36004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GB" sz="1200" b="1" dirty="0">
                  <a:solidFill>
                    <a:srgbClr val="C00000"/>
                  </a:solidFill>
                </a:endParaRPr>
              </a:p>
            </p:txBody>
          </p:sp>
        </p:grpSp>
      </p:grpSp>
      <p:sp>
        <p:nvSpPr>
          <p:cNvPr id="63" name="Rectangle 62"/>
          <p:cNvSpPr/>
          <p:nvPr/>
        </p:nvSpPr>
        <p:spPr>
          <a:xfrm>
            <a:off x="3983571" y="3354629"/>
            <a:ext cx="5105113" cy="1166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e.g. if </a:t>
            </a:r>
            <a:r>
              <a:rPr lang="en-US" b="1" dirty="0" err="1">
                <a:solidFill>
                  <a:srgbClr val="C00000"/>
                </a:solidFill>
              </a:rPr>
              <a:t>s_num</a:t>
            </a:r>
            <a:r>
              <a:rPr lang="en-US" dirty="0"/>
              <a:t> is chosen as the hash field, and using a </a:t>
            </a:r>
            <a:r>
              <a:rPr lang="en-US" b="1" dirty="0">
                <a:solidFill>
                  <a:srgbClr val="C00000"/>
                </a:solidFill>
              </a:rPr>
              <a:t>MOD 13 hash function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Records with </a:t>
            </a:r>
            <a:r>
              <a:rPr lang="en-US" dirty="0" err="1"/>
              <a:t>s_num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22, 31, 40, 49 and 58 </a:t>
            </a:r>
            <a:r>
              <a:rPr lang="en-US" dirty="0"/>
              <a:t>are stored on pages </a:t>
            </a:r>
            <a:r>
              <a:rPr lang="en-US" b="1" dirty="0">
                <a:solidFill>
                  <a:srgbClr val="C00000"/>
                </a:solidFill>
              </a:rPr>
              <a:t>9, 5, 1, 10 and 6 </a:t>
            </a:r>
            <a:r>
              <a:rPr lang="en-US" dirty="0"/>
              <a:t>respectively</a:t>
            </a:r>
          </a:p>
        </p:txBody>
      </p:sp>
      <p:cxnSp>
        <p:nvCxnSpPr>
          <p:cNvPr id="65" name="Straight Connector 64"/>
          <p:cNvCxnSpPr/>
          <p:nvPr/>
        </p:nvCxnSpPr>
        <p:spPr>
          <a:xfrm flipH="1">
            <a:off x="3851920" y="3304506"/>
            <a:ext cx="18002" cy="3389239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1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Hashing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620688"/>
            <a:ext cx="8928992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FontTx/>
              <a:buNone/>
            </a:pPr>
            <a:r>
              <a:rPr lang="en-US" dirty="0"/>
              <a:t>A stored file can have </a:t>
            </a:r>
            <a:r>
              <a:rPr lang="en-US" b="1" dirty="0">
                <a:solidFill>
                  <a:srgbClr val="0070C0"/>
                </a:solidFill>
              </a:rPr>
              <a:t>many indexes</a:t>
            </a:r>
            <a:r>
              <a:rPr lang="en-US" dirty="0"/>
              <a:t>, but only </a:t>
            </a:r>
            <a:r>
              <a:rPr lang="en-US" b="1" dirty="0">
                <a:solidFill>
                  <a:srgbClr val="0070C0"/>
                </a:solidFill>
              </a:rPr>
              <a:t>one hash structure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The records are not stored primary key sequence    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0070C0"/>
                </a:solidFill>
              </a:rPr>
              <a:t>Advantage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dirty="0"/>
              <a:t> Allows </a:t>
            </a:r>
            <a:r>
              <a:rPr lang="en-US" b="1" dirty="0">
                <a:solidFill>
                  <a:srgbClr val="0070C0"/>
                </a:solidFill>
              </a:rPr>
              <a:t>quicker</a:t>
            </a:r>
            <a:r>
              <a:rPr lang="en-US" dirty="0"/>
              <a:t> direct access than indexing</a:t>
            </a:r>
          </a:p>
          <a:p>
            <a:pPr marL="228600">
              <a:lnSpc>
                <a:spcPct val="90000"/>
              </a:lnSpc>
              <a:spcBef>
                <a:spcPts val="600"/>
              </a:spcBef>
            </a:pPr>
            <a:r>
              <a:rPr lang="en-US" i="1" dirty="0"/>
              <a:t>Speed of hashing </a:t>
            </a:r>
            <a:r>
              <a:rPr lang="en-US" dirty="0"/>
              <a:t>= hash function time + 1 disk  I/O (record retrieval) </a:t>
            </a:r>
          </a:p>
          <a:p>
            <a:pPr marL="228600">
              <a:lnSpc>
                <a:spcPct val="90000"/>
              </a:lnSpc>
              <a:spcBef>
                <a:spcPts val="600"/>
              </a:spcBef>
            </a:pPr>
            <a:r>
              <a:rPr lang="en-US" i="1" dirty="0"/>
              <a:t>Speed of indexing </a:t>
            </a:r>
            <a:r>
              <a:rPr lang="en-US" dirty="0"/>
              <a:t>= index access time (greater) + 1 disk I/O (record retrieval)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0070C0"/>
                </a:solidFill>
              </a:rPr>
              <a:t>Problems: </a:t>
            </a:r>
            <a:r>
              <a:rPr lang="en-GB" dirty="0"/>
              <a:t>Hash functions </a:t>
            </a:r>
            <a:r>
              <a:rPr lang="en-GB" b="1" dirty="0">
                <a:solidFill>
                  <a:srgbClr val="C00000"/>
                </a:solidFill>
              </a:rPr>
              <a:t>do not guarantee a unique address</a:t>
            </a:r>
          </a:p>
          <a:p>
            <a:pPr marL="228600"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When the same address is generated for a record as a previous record, and that page is full, a </a:t>
            </a:r>
            <a:r>
              <a:rPr lang="en-GB" b="1" dirty="0">
                <a:solidFill>
                  <a:srgbClr val="C00000"/>
                </a:solidFill>
              </a:rPr>
              <a:t>collision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has occurred</a:t>
            </a:r>
          </a:p>
          <a:p>
            <a:pPr marL="228600"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On collision the next free page could be used (</a:t>
            </a:r>
            <a:r>
              <a:rPr lang="en-GB" b="1" dirty="0">
                <a:solidFill>
                  <a:srgbClr val="0070C0"/>
                </a:solidFill>
              </a:rPr>
              <a:t>Open Addressing</a:t>
            </a:r>
            <a:r>
              <a:rPr lang="en-GB" dirty="0"/>
              <a:t>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- but this could seriously slow access (two or more disk accesses)</a:t>
            </a:r>
          </a:p>
          <a:p>
            <a:pPr marL="228600"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A simple solution is to have an </a:t>
            </a:r>
            <a:r>
              <a:rPr lang="en-GB" b="1" dirty="0">
                <a:solidFill>
                  <a:srgbClr val="C00000"/>
                </a:solidFill>
              </a:rPr>
              <a:t>overflow area </a:t>
            </a:r>
            <a:r>
              <a:rPr lang="en-GB" dirty="0"/>
              <a:t>(</a:t>
            </a:r>
            <a:r>
              <a:rPr lang="en-GB" b="1" dirty="0">
                <a:solidFill>
                  <a:srgbClr val="0070C0"/>
                </a:solidFill>
              </a:rPr>
              <a:t>Unchained Overflow</a:t>
            </a:r>
            <a:r>
              <a:rPr lang="en-GB" dirty="0"/>
              <a:t>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- this necessitates a maximum of two disk accesses to retrieve the record</a:t>
            </a:r>
          </a:p>
          <a:p>
            <a:pPr marL="228600"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More sophisticated approaches include adding a pointer to the page the record should have been stored in to indicate where the record is actually stored (</a:t>
            </a:r>
            <a:r>
              <a:rPr lang="en-GB" b="1" dirty="0">
                <a:solidFill>
                  <a:srgbClr val="0070C0"/>
                </a:solidFill>
              </a:rPr>
              <a:t>Chained Overflow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To store a table using hashing, enough memory must be allocated in contiguous page addresses to hold them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Tables with high update rates may grow and cause marked deterioration in retrieval performance (</a:t>
            </a:r>
            <a:r>
              <a:rPr lang="en-GB" b="1" dirty="0">
                <a:solidFill>
                  <a:srgbClr val="0070C0"/>
                </a:solidFill>
              </a:rPr>
              <a:t>increased collision rates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GB" dirty="0"/>
              <a:t>Thus, hashed tables may require </a:t>
            </a:r>
            <a:r>
              <a:rPr lang="en-GB" b="1" dirty="0">
                <a:solidFill>
                  <a:srgbClr val="0070C0"/>
                </a:solidFill>
              </a:rPr>
              <a:t>periodic reorganisation </a:t>
            </a:r>
            <a:r>
              <a:rPr lang="en-GB" dirty="0"/>
              <a:t>(larger area of memory allocated and table completely rehashed)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32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7504" y="130451"/>
            <a:ext cx="892899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defRPr sz="3200"/>
            </a:lvl1pPr>
          </a:lstStyle>
          <a:p>
            <a:r>
              <a:rPr lang="en-GB" dirty="0">
                <a:latin typeface="Calibri" panose="020F0502020204030204" pitchFamily="34" charset="0"/>
              </a:rPr>
              <a:t>Storage Options and Comparisons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504" y="715226"/>
            <a:ext cx="892899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Not all DBMSs provide all available storage options;</a:t>
            </a:r>
          </a:p>
          <a:p>
            <a:pPr marL="742950" indent="-457200">
              <a:lnSpc>
                <a:spcPct val="90000"/>
              </a:lnSpc>
            </a:pPr>
            <a:r>
              <a:rPr lang="en-US" dirty="0"/>
              <a:t>e.g.,	MS ACCESS: provides ISAM only</a:t>
            </a:r>
          </a:p>
          <a:p>
            <a:pPr marL="742950"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MySQL: provides  </a:t>
            </a:r>
            <a:r>
              <a:rPr lang="en-GB" dirty="0"/>
              <a:t>ISAM (default table type), B-tree and Hash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In SQL indexes and storage structures are applied using: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b="1" dirty="0"/>
              <a:t>CREATE INDEX </a:t>
            </a:r>
            <a:r>
              <a:rPr lang="en-US" b="1" dirty="0" err="1"/>
              <a:t>indexname</a:t>
            </a:r>
            <a:r>
              <a:rPr lang="en-US" b="1" dirty="0"/>
              <a:t> ON </a:t>
            </a:r>
            <a:r>
              <a:rPr lang="en-US" b="1" dirty="0" err="1"/>
              <a:t>tablename</a:t>
            </a:r>
            <a:r>
              <a:rPr lang="en-US" b="1" dirty="0"/>
              <a:t> (</a:t>
            </a:r>
            <a:r>
              <a:rPr lang="en-US" b="1" dirty="0" err="1"/>
              <a:t>columnname</a:t>
            </a:r>
            <a:r>
              <a:rPr lang="en-US" b="1" dirty="0"/>
              <a:t>) USING </a:t>
            </a:r>
            <a:r>
              <a:rPr lang="en-US" b="1" dirty="0" err="1"/>
              <a:t>indextype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BTree|Hash</a:t>
            </a:r>
            <a:r>
              <a:rPr lang="en-US" dirty="0"/>
              <a:t>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0070C0"/>
                </a:solidFill>
              </a:rPr>
              <a:t>HEAP:</a:t>
            </a:r>
          </a:p>
          <a:p>
            <a:pPr marL="2857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Unordered - keeps records in order they are entered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0070C0"/>
                </a:solidFill>
              </a:rPr>
              <a:t>Hashing: </a:t>
            </a:r>
          </a:p>
          <a:p>
            <a:pPr marL="2857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efficient method for direct access to an individual record.       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Not efficient for accessing a sequence of records.   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Large amount of 'overflow’ (collisions) cause direct access efficiency reduction (requiring physical </a:t>
            </a:r>
            <a:r>
              <a:rPr lang="en-US" dirty="0" err="1"/>
              <a:t>reorganisation</a:t>
            </a:r>
            <a:r>
              <a:rPr lang="en-US" dirty="0"/>
              <a:t> of data on disk)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0070C0"/>
                </a:solidFill>
              </a:rPr>
              <a:t>Indexing:(ISAM)</a:t>
            </a:r>
            <a:r>
              <a:rPr lang="en-US" dirty="0">
                <a:solidFill>
                  <a:srgbClr val="0070C0"/>
                </a:solidFill>
              </a:rPr>
              <a:t>     </a:t>
            </a:r>
          </a:p>
          <a:p>
            <a:pPr marL="2857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Efficient method for small files or non-dynamic files (low update) for sequential and direct access. 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also suffer from 'overflow’ problems when allocated memory for is exceeded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0070C0"/>
                </a:solidFill>
              </a:rPr>
              <a:t>B-Tree:	</a:t>
            </a:r>
          </a:p>
          <a:p>
            <a:pPr marL="2857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Good all round performer for sequential and direct access. 	     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Best for large or dynamic files (large update rate) but 'overhead’ in B-Tree maintenance. </a:t>
            </a:r>
          </a:p>
          <a:p>
            <a:pPr marL="2857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Because of tree balancing 'overflow’ is not a problem.</a:t>
            </a:r>
          </a:p>
        </p:txBody>
      </p:sp>
    </p:spTree>
    <p:extLst>
      <p:ext uri="{BB962C8B-B14F-4D97-AF65-F5344CB8AC3E}">
        <p14:creationId xmlns:p14="http://schemas.microsoft.com/office/powerpoint/2010/main" val="9689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3189</Words>
  <Application>Microsoft Office PowerPoint</Application>
  <PresentationFormat>On-screen Show (4:3)</PresentationFormat>
  <Paragraphs>331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Default Design</vt:lpstr>
      <vt:lpstr>COM106: Introduction to Databases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tfellow</dc:creator>
  <cp:lastModifiedBy>Burns, Matthew</cp:lastModifiedBy>
  <cp:revision>133</cp:revision>
  <dcterms:created xsi:type="dcterms:W3CDTF">2016-03-15T11:46:15Z</dcterms:created>
  <dcterms:modified xsi:type="dcterms:W3CDTF">2023-11-13T10:49:52Z</dcterms:modified>
</cp:coreProperties>
</file>